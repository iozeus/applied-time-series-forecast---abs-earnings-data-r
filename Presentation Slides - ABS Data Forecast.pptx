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73" r:id="rId5"/>
    <p:sldId id="275" r:id="rId6"/>
    <p:sldId id="285" r:id="rId7"/>
    <p:sldId id="307" r:id="rId8"/>
    <p:sldId id="308" r:id="rId9"/>
    <p:sldId id="288" r:id="rId10"/>
    <p:sldId id="301" r:id="rId11"/>
    <p:sldId id="289" r:id="rId12"/>
    <p:sldId id="290" r:id="rId13"/>
    <p:sldId id="302" r:id="rId14"/>
    <p:sldId id="291" r:id="rId15"/>
    <p:sldId id="292" r:id="rId16"/>
    <p:sldId id="314" r:id="rId17"/>
    <p:sldId id="303" r:id="rId18"/>
    <p:sldId id="310" r:id="rId19"/>
    <p:sldId id="293" r:id="rId20"/>
    <p:sldId id="304" r:id="rId21"/>
    <p:sldId id="315" r:id="rId22"/>
    <p:sldId id="295" r:id="rId23"/>
    <p:sldId id="313" r:id="rId24"/>
    <p:sldId id="312" r:id="rId25"/>
    <p:sldId id="319" r:id="rId26"/>
    <p:sldId id="318" r:id="rId27"/>
    <p:sldId id="311" r:id="rId28"/>
    <p:sldId id="317" r:id="rId29"/>
    <p:sldId id="316" r:id="rId30"/>
    <p:sldId id="305" r:id="rId31"/>
    <p:sldId id="280" r:id="rId32"/>
    <p:sldId id="323" r:id="rId33"/>
    <p:sldId id="297" r:id="rId34"/>
    <p:sldId id="322" r:id="rId35"/>
    <p:sldId id="309" r:id="rId36"/>
    <p:sldId id="306" r:id="rId37"/>
    <p:sldId id="274" r:id="rId38"/>
    <p:sldId id="296" r:id="rId39"/>
    <p:sldId id="294" r:id="rId4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80EF85-2671-4DCF-86E3-58D744AC80D8}">
          <p14:sldIdLst>
            <p14:sldId id="273"/>
            <p14:sldId id="275"/>
            <p14:sldId id="285"/>
            <p14:sldId id="307"/>
            <p14:sldId id="308"/>
            <p14:sldId id="288"/>
            <p14:sldId id="301"/>
            <p14:sldId id="289"/>
            <p14:sldId id="290"/>
            <p14:sldId id="302"/>
            <p14:sldId id="291"/>
            <p14:sldId id="292"/>
            <p14:sldId id="314"/>
            <p14:sldId id="303"/>
            <p14:sldId id="310"/>
            <p14:sldId id="293"/>
            <p14:sldId id="304"/>
            <p14:sldId id="315"/>
            <p14:sldId id="295"/>
            <p14:sldId id="313"/>
            <p14:sldId id="312"/>
            <p14:sldId id="319"/>
            <p14:sldId id="318"/>
            <p14:sldId id="311"/>
            <p14:sldId id="317"/>
            <p14:sldId id="316"/>
            <p14:sldId id="305"/>
            <p14:sldId id="280"/>
            <p14:sldId id="323"/>
            <p14:sldId id="297"/>
            <p14:sldId id="322"/>
            <p14:sldId id="309"/>
            <p14:sldId id="306"/>
            <p14:sldId id="274"/>
          </p14:sldIdLst>
        </p14:section>
        <p14:section name="CUTOFF" id="{370A3BB8-132C-469D-AADC-7645DC7AC6B9}">
          <p14:sldIdLst>
            <p14:sldId id="296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39"/>
    <a:srgbClr val="005C2A"/>
    <a:srgbClr val="004821"/>
    <a:srgbClr val="D8BEB2"/>
    <a:srgbClr val="753F2D"/>
    <a:srgbClr val="5E3324"/>
    <a:srgbClr val="8A4C34"/>
    <a:srgbClr val="815550"/>
    <a:srgbClr val="A3573E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6327"/>
  </p:normalViewPr>
  <p:slideViewPr>
    <p:cSldViewPr snapToGrid="0">
      <p:cViewPr varScale="1">
        <p:scale>
          <a:sx n="78" d="100"/>
          <a:sy n="78" d="100"/>
        </p:scale>
        <p:origin x="1032" y="72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11:57:11.3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 0,'2049'-18'0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11:57:13.0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0,'1507'17'0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15.0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40,'58'0,"8"2,1-4,118-18,-117 11,0 2,0 4,83 6,-24-1,49-4,192 5,-276 5,42 1,-114-8,36 6,19 2,-14-10,-54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16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1,'75'-1,"0"4,104 17,-129-14,-1-1,96-5,10 1,-76 7,37 1,-1-7,120-5,-176-5,-36 4,37-1,-41 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18.4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0,'36'2,"0"2,-1 1,53 15,6 0,179 23,-211-36,0-4,92-5,-44-15,-79 10,1 2,49-2,-29 8,73-10,-14 0,2 1,-9-4,42-7,-129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11:57:20.4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 0,'1355'0'0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22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0,'1085'0,"-1027"8,-32-3,-11-2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11:57:11.3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 0,'2049'-18'0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11:57:13.0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0,'1507'17'0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15.0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40,'58'0,"8"2,1-4,118-18,-117 11,0 2,0 4,83 6,-24-1,49-4,192 5,-276 5,42 1,-114-8,36 6,19 2,-14-10,-54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16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1,'75'-1,"0"4,104 17,-129-14,-1-1,96-5,10 1,-76 7,37 1,-1-7,120-5,-176-5,-36 4,37-1,-41 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18.4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0,'36'2,"0"2,-1 1,53 15,6 0,179 23,-211-36,0-4,92-5,-44-15,-79 10,1 2,49-2,-29 8,73-10,-14 0,2 1,-9-4,42-7,-129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11:57:20.4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 0,'1355'0'0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22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0,'1085'0,"-1027"8,-32-3,-11-2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29.9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0,'579'43,"-8"1,-439-46,93 2,-134 8,64 1,-96-8,60-3,-70-6,13-1,-12 2,-38 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31.7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52,'276'15,"-84"-2,-166-12,270 4,-241-7,0-3,-1-2,73-19,-76 12,1 4,0 1,1 3,79 0,-65 7,71 11,-121-10,-2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36.8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0,'16'1,"-1"1,0 1,0 0,23 8,7 2,66 7,1-4,1-6,149-4,-231-8,32-5,26-2,420 10,-493 0,-1 0,26 7,-39-8,13 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40.4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1,'25'1,"34"6,12 1,82 10,-103-10,83 2,64-9,152-4,-252-5,38-1,-113 8,37-7,-35 4,-9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43.4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17,'106'-15,"-62"14,0 2,0 1,0 3,74 17,-106-20,77 21,1-5,94 7,340-20,-295-7,-164 3,-32 1,0-2,0-1,0-1,-1-2,34-9,-28 5,1 2,0 1,0 2,0 2,51 5,6-2,225-2,-307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54.0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1 115,'8'0,"1"2,-1-1,0 1,0 0,16 6,4 2,35 7,2-2,98 8,-118-20,1-2,-1-1,1-3,69-14,-79 12,61-3,-63 7,-1-2,38-7,-51 5,12-1,-1-2,1-2,38-16,-39 11,0 1,1 2,0 2,39-9,-42 14,6-3,0 3,59-3,-21 7,81 3,-146 0,0 0,0 1,0-1,0 1,0 1,-1 0,1 0,-1 0,13 11,30 16,-19-13,-23-14,0 1,-1-1,2 0,10 3,6 2,-16-3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56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56,'190'15,"-141"-12,79 16,-81-11,87 5,-59-14,0-4,-1-3,0-3,-1-4,129-42,-182 52,1 1,-1 1,1 1,0 0,0 2,-1 0,41 7,42 0,10 1,-49-2,-6 2,-44-5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58.9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1 104,'78'-2,"95"-14,-86 8,138 6,-24 1,-192 0,0 0,1-1,-1 0,0-1,12-5,30-8,90 0,-24 4,-77 6,0 2,0 1,1 3,-1 1,51 8,-60-1,0 1,50 22,-1-1,-47-22,1-1,-1-2,63 3,-81-8,74 7,70 2,-57-10,-90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8:00.7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43,'40'-2,"56"-9,6-2,-20 7,27-2,130 6,-199 6,49 12,26 3,-59-12,-1 3,75 21,7-3,-94-21,-8-4,0 0,42-3,-45-1,-20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8:05.2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2,'118'-2,"155"7,-215 3,58 16,19 4,-43-16,-44-7,1 2,-1 2,0 2,54 21,-84-24,1 0,0-1,0-2,1 0,-1 0,1-2,39 2,61 1,-6 1,-74-6,-25 0,1 0,0-1,-1-1,1-1,-1 0,0 0,1-2,15-5,-14 2,1 1,-1 1,23-3,-21 5,-1-2,-1 1,20-9,-17 6,1 1,0 0,0 2,39-4,-48 8,0-1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54.0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1 115,'8'0,"1"2,-1-1,0 1,0 0,16 6,4 2,35 7,2-2,98 8,-118-20,1-2,-1-1,1-3,69-14,-79 12,61-3,-63 7,-1-2,38-7,-51 5,12-1,-1-2,1-2,38-16,-39 11,0 1,1 2,0 2,39-9,-42 14,6-3,0 3,59-3,-21 7,81 3,-146 0,0 0,0 1,0-1,0 1,0 1,-1 0,1 0,-1 0,13 11,30 16,-19-13,-23-14,0 1,-1-1,2 0,10 3,6 2,-16-3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56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56,'190'15,"-141"-12,79 16,-81-11,87 5,-59-14,0-4,-1-3,0-3,-1-4,129-42,-182 52,1 1,-1 1,1 1,0 0,0 2,-1 0,41 7,42 0,10 1,-49-2,-6 2,-44-5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7:58.9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1 104,'78'-2,"95"-14,-86 8,138 6,-24 1,-192 0,0 0,1-1,-1 0,0-1,12-5,30-8,90 0,-24 4,-77 6,0 2,0 1,1 3,-1 1,51 8,-60-1,0 1,50 22,-1-1,-47-22,1-1,-1-2,63 3,-81-8,74 7,70 2,-57-10,-90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8:00.7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43,'40'-2,"56"-9,6-2,-20 7,27-2,130 6,-199 6,49 12,26 3,-59-12,-1 3,75 21,7-3,-94-21,-8-4,0 0,42-3,-45-1,-20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8:05.2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2,'118'-2,"155"7,-215 3,58 16,19 4,-43-16,-44-7,1 2,-1 2,0 2,54 21,-84-24,1 0,0-1,0-2,1 0,-1 0,1-2,39 2,61 1,-6 1,-74-6,-25 0,1 0,0-1,-1-1,1-1,-1 0,0 0,1-2,15-5,-14 2,1 1,-1 1,23-3,-21 5,-1-2,-1 1,20-9,-17 6,1 1,0 0,0 2,39-4,-48 8,0-1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8:08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0,'53'4,"-1"1,0 3,74 20,13 2,416 40,-371-51,-113-9,92 0,-72-5,-70-2,0-2,0 0,1-1,-1-1,34-7,-10-5,-2-2,1-2,48-27,-89 42,161-71,-129 59,-21 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8:10.6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86,'39'2,"-1"2,69 16,1 1,-80-17,0-1,0-1,1-1,-1-1,0-2,0-1,0-1,0-1,52-18,-26 5,1 2,0 3,1 2,1 2,0 3,104 2,-40 6,157-4,-181-12,-69 9,1 0,35 0,-51 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8:12.3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43,'1'-2,"-1"1,1 0,0 0,-1 0,1 0,0 0,-1 0,1 0,0 0,0 1,0-1,0 0,0 0,0 1,0-1,0 1,0-1,0 1,1-1,-1 1,0-1,1 1,29-8,154-6,-144 12,350 2,-275 15,-22-2,-69-11,172 10,-42 2,-87-15,71 2,-139-1,1 0,-1 0,1 0,-1 0,1 0,-1 0,1 0,-1 0,1 0,-1 0,1 0,-1 0,1 0,-1 0,0 1,1-1,-1 0,1 0,-1 1,0-1,1 0,-1 1,1-1,-1 0,0 1,1-1,-1 0,0 1,0-1,1 1,-1-1,0 0,0 1,0-1,0 1,1-1,-1 1,0-1,0 1,-2 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6T11:58:17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13,'146'1,"157"-3,-218-3,-50 1,1 2,-1 2,57 6,139 42,-195-39,1-2,71 4,75-9,-98-3,-72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23:46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9/15/2026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0.png"/><Relationship Id="rId7" Type="http://schemas.openxmlformats.org/officeDocument/2006/relationships/image" Target="../media/image1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customXml" Target="../ink/ink6.xml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customXml" Target="../ink/ink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13.xml"/><Relationship Id="rId18" Type="http://schemas.openxmlformats.org/officeDocument/2006/relationships/image" Target="../media/image38.png"/><Relationship Id="rId3" Type="http://schemas.openxmlformats.org/officeDocument/2006/relationships/image" Target="../media/image30.png"/><Relationship Id="rId7" Type="http://schemas.openxmlformats.org/officeDocument/2006/relationships/customXml" Target="../ink/ink10.xml"/><Relationship Id="rId12" Type="http://schemas.openxmlformats.org/officeDocument/2006/relationships/image" Target="../media/image35.png"/><Relationship Id="rId17" Type="http://schemas.openxmlformats.org/officeDocument/2006/relationships/customXml" Target="../ink/ink15.xml"/><Relationship Id="rId2" Type="http://schemas.openxmlformats.org/officeDocument/2006/relationships/image" Target="../media/image29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11.xml"/><Relationship Id="rId1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43.png"/><Relationship Id="rId18" Type="http://schemas.openxmlformats.org/officeDocument/2006/relationships/customXml" Target="../ink/ink21.xml"/><Relationship Id="rId26" Type="http://schemas.openxmlformats.org/officeDocument/2006/relationships/customXml" Target="../ink/ink25.xml"/><Relationship Id="rId3" Type="http://schemas.openxmlformats.org/officeDocument/2006/relationships/image" Target="../media/image30.png"/><Relationship Id="rId21" Type="http://schemas.openxmlformats.org/officeDocument/2006/relationships/image" Target="../media/image46.png"/><Relationship Id="rId7" Type="http://schemas.openxmlformats.org/officeDocument/2006/relationships/image" Target="../media/image41.png"/><Relationship Id="rId12" Type="http://schemas.openxmlformats.org/officeDocument/2006/relationships/customXml" Target="../ink/ink18.xml"/><Relationship Id="rId17" Type="http://schemas.openxmlformats.org/officeDocument/2006/relationships/image" Target="../media/image45.png"/><Relationship Id="rId25" Type="http://schemas.openxmlformats.org/officeDocument/2006/relationships/image" Target="../media/image48.png"/><Relationship Id="rId2" Type="http://schemas.openxmlformats.org/officeDocument/2006/relationships/image" Target="../media/image29.png"/><Relationship Id="rId16" Type="http://schemas.openxmlformats.org/officeDocument/2006/relationships/customXml" Target="../ink/ink20.xml"/><Relationship Id="rId20" Type="http://schemas.openxmlformats.org/officeDocument/2006/relationships/customXml" Target="../ink/ink22.xml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11" Type="http://schemas.openxmlformats.org/officeDocument/2006/relationships/image" Target="../media/image33.png"/><Relationship Id="rId24" Type="http://schemas.openxmlformats.org/officeDocument/2006/relationships/customXml" Target="../ink/ink24.xml"/><Relationship Id="rId5" Type="http://schemas.openxmlformats.org/officeDocument/2006/relationships/image" Target="../media/image40.png"/><Relationship Id="rId15" Type="http://schemas.openxmlformats.org/officeDocument/2006/relationships/image" Target="../media/image44.png"/><Relationship Id="rId23" Type="http://schemas.openxmlformats.org/officeDocument/2006/relationships/image" Target="../media/image47.png"/><Relationship Id="rId28" Type="http://schemas.openxmlformats.org/officeDocument/2006/relationships/customXml" Target="../ink/ink26.xml"/><Relationship Id="rId10" Type="http://schemas.openxmlformats.org/officeDocument/2006/relationships/customXml" Target="../ink/ink17.xml"/><Relationship Id="rId19" Type="http://schemas.openxmlformats.org/officeDocument/2006/relationships/image" Target="../media/image37.png"/><Relationship Id="rId31" Type="http://schemas.openxmlformats.org/officeDocument/2006/relationships/image" Target="../media/image51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Relationship Id="rId14" Type="http://schemas.openxmlformats.org/officeDocument/2006/relationships/customXml" Target="../ink/ink19.xml"/><Relationship Id="rId22" Type="http://schemas.openxmlformats.org/officeDocument/2006/relationships/customXml" Target="../ink/ink23.xml"/><Relationship Id="rId27" Type="http://schemas.openxmlformats.org/officeDocument/2006/relationships/image" Target="../media/image49.png"/><Relationship Id="rId30" Type="http://schemas.openxmlformats.org/officeDocument/2006/relationships/customXml" Target="../ink/ink2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customXml" Target="../ink/ink32.xml"/><Relationship Id="rId3" Type="http://schemas.openxmlformats.org/officeDocument/2006/relationships/image" Target="../media/image53.png"/><Relationship Id="rId7" Type="http://schemas.openxmlformats.org/officeDocument/2006/relationships/customXml" Target="../ink/ink29.xml"/><Relationship Id="rId12" Type="http://schemas.openxmlformats.org/officeDocument/2006/relationships/image" Target="../media/image5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0" Type="http://schemas.openxmlformats.org/officeDocument/2006/relationships/image" Target="../media/image57.png"/><Relationship Id="rId4" Type="http://schemas.openxmlformats.org/officeDocument/2006/relationships/image" Target="../media/image54.png"/><Relationship Id="rId9" Type="http://schemas.openxmlformats.org/officeDocument/2006/relationships/customXml" Target="../ink/ink30.xml"/><Relationship Id="rId1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13" Type="http://schemas.openxmlformats.org/officeDocument/2006/relationships/image" Target="../media/image65.png"/><Relationship Id="rId18" Type="http://schemas.openxmlformats.org/officeDocument/2006/relationships/customXml" Target="../ink/ink38.xml"/><Relationship Id="rId3" Type="http://schemas.openxmlformats.org/officeDocument/2006/relationships/image" Target="../media/image61.png"/><Relationship Id="rId21" Type="http://schemas.openxmlformats.org/officeDocument/2006/relationships/image" Target="../media/image69.png"/><Relationship Id="rId7" Type="http://schemas.openxmlformats.org/officeDocument/2006/relationships/image" Target="../media/image62.png"/><Relationship Id="rId12" Type="http://schemas.openxmlformats.org/officeDocument/2006/relationships/customXml" Target="../ink/ink35.xml"/><Relationship Id="rId17" Type="http://schemas.openxmlformats.org/officeDocument/2006/relationships/image" Target="../media/image67.png"/><Relationship Id="rId25" Type="http://schemas.openxmlformats.org/officeDocument/2006/relationships/image" Target="../media/image72.png"/><Relationship Id="rId2" Type="http://schemas.openxmlformats.org/officeDocument/2006/relationships/image" Target="../media/image60.png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11" Type="http://schemas.openxmlformats.org/officeDocument/2006/relationships/image" Target="../media/image64.png"/><Relationship Id="rId24" Type="http://schemas.openxmlformats.org/officeDocument/2006/relationships/customXml" Target="../ink/ink41.xml"/><Relationship Id="rId5" Type="http://schemas.openxmlformats.org/officeDocument/2006/relationships/image" Target="../media/image53.png"/><Relationship Id="rId15" Type="http://schemas.openxmlformats.org/officeDocument/2006/relationships/image" Target="../media/image66.png"/><Relationship Id="rId23" Type="http://schemas.openxmlformats.org/officeDocument/2006/relationships/image" Target="../media/image71.png"/><Relationship Id="rId10" Type="http://schemas.openxmlformats.org/officeDocument/2006/relationships/customXml" Target="../ink/ink34.xml"/><Relationship Id="rId19" Type="http://schemas.openxmlformats.org/officeDocument/2006/relationships/image" Target="../media/image68.png"/><Relationship Id="rId4" Type="http://schemas.openxmlformats.org/officeDocument/2006/relationships/image" Target="../media/image52.png"/><Relationship Id="rId9" Type="http://schemas.openxmlformats.org/officeDocument/2006/relationships/image" Target="../media/image63.png"/><Relationship Id="rId14" Type="http://schemas.openxmlformats.org/officeDocument/2006/relationships/customXml" Target="../ink/ink36.xml"/><Relationship Id="rId22" Type="http://schemas.openxmlformats.org/officeDocument/2006/relationships/customXml" Target="../ink/ink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159" y="757870"/>
            <a:ext cx="9373682" cy="156254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Assignment 1</a:t>
            </a:r>
            <a:br>
              <a:rPr lang="en-US" dirty="0"/>
            </a:br>
            <a:r>
              <a:rPr lang="en-US" sz="3000" dirty="0"/>
              <a:t>ETC3450: Applied Time Series Econometrics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Ali Alkhatib 34395873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772" y="576072"/>
            <a:ext cx="5934456" cy="704088"/>
          </a:xfrm>
        </p:spPr>
        <p:txBody>
          <a:bodyPr/>
          <a:lstStyle/>
          <a:p>
            <a:r>
              <a:rPr lang="en-US" dirty="0"/>
              <a:t>Series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5EB67-4F01-7E83-AC9F-E4A11A42FAAA}"/>
              </a:ext>
            </a:extLst>
          </p:cNvPr>
          <p:cNvSpPr txBox="1"/>
          <p:nvPr/>
        </p:nvSpPr>
        <p:spPr>
          <a:xfrm>
            <a:off x="911050" y="3324871"/>
            <a:ext cx="103698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The goal</a:t>
            </a:r>
            <a:r>
              <a:rPr lang="en-US" dirty="0"/>
              <a:t>: Understand the behavior of this earnings series and forecast where it's headed over the next 2 years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Tools: </a:t>
            </a:r>
            <a:r>
              <a:rPr lang="en-US" dirty="0"/>
              <a:t>R-code</a:t>
            </a:r>
            <a:r>
              <a:rPr lang="en-US" b="1" dirty="0"/>
              <a:t> 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Our approach (The data)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Examine the raw series and its first difference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 formally whether each is stationary or non-stationary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Fit/Find and compare two forecasting models per series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Produce forecasts with prediction intervals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C837B-39E2-1385-4EF3-CA4A4F66D77B}"/>
              </a:ext>
            </a:extLst>
          </p:cNvPr>
          <p:cNvSpPr txBox="1"/>
          <p:nvPr/>
        </p:nvSpPr>
        <p:spPr>
          <a:xfrm>
            <a:off x="911051" y="1627306"/>
            <a:ext cx="10369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b="1" dirty="0"/>
              <a:t>What we're </a:t>
            </a:r>
            <a:r>
              <a:rPr lang="en-US" sz="1800" b="1" dirty="0" err="1"/>
              <a:t>analysing</a:t>
            </a:r>
            <a:r>
              <a:rPr lang="en-US" sz="1800" dirty="0"/>
              <a:t>: Average earnings for male professionals in Scientific &amp; Technical Services (ABS series data,</a:t>
            </a:r>
            <a:r>
              <a:rPr lang="en-US" dirty="0"/>
              <a:t> </a:t>
            </a:r>
            <a:r>
              <a:rPr lang="en-US" dirty="0">
                <a:solidFill>
                  <a:srgbClr val="007E39"/>
                </a:solidFill>
              </a:rPr>
              <a:t>A84977991W</a:t>
            </a:r>
            <a:r>
              <a:rPr lang="en-US" dirty="0"/>
              <a:t>,</a:t>
            </a:r>
            <a:r>
              <a:rPr lang="en-US" sz="1800" dirty="0"/>
              <a:t> 2005-2022)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33E3D5-6510-52EB-97F5-C6BE97C68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007" y="4252197"/>
            <a:ext cx="3254022" cy="16765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FBF0ED-96A1-21F9-7D6D-D32E5B795D36}"/>
              </a:ext>
            </a:extLst>
          </p:cNvPr>
          <p:cNvCxnSpPr>
            <a:cxnSpLocks/>
          </p:cNvCxnSpPr>
          <p:nvPr/>
        </p:nvCxnSpPr>
        <p:spPr>
          <a:xfrm>
            <a:off x="2514846" y="4336025"/>
            <a:ext cx="511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B23E63E-F826-856B-AB36-D921D9575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329" y="4271343"/>
            <a:ext cx="4532671" cy="2586657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4EF1CA-AB8E-5AEF-5B54-02BACD9021C8}"/>
              </a:ext>
            </a:extLst>
          </p:cNvPr>
          <p:cNvCxnSpPr>
            <a:cxnSpLocks/>
          </p:cNvCxnSpPr>
          <p:nvPr/>
        </p:nvCxnSpPr>
        <p:spPr>
          <a:xfrm>
            <a:off x="6501825" y="5176683"/>
            <a:ext cx="10886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15CD-E952-9C2B-EF6A-D124D560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B56184-84E5-F5A7-307E-83864DA59F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U</a:t>
            </a:r>
          </a:p>
          <a:p>
            <a:r>
              <a:rPr lang="en-US" dirty="0"/>
              <a:t>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C92AB0-3E49-F93E-D94C-9696C732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27CFF9-C0EB-8535-2566-B213A0C3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17" y="801862"/>
            <a:ext cx="9864366" cy="590488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F9BA1FF-D79A-F39E-DBF8-75F414906AE2}"/>
              </a:ext>
            </a:extLst>
          </p:cNvPr>
          <p:cNvSpPr txBox="1"/>
          <p:nvPr/>
        </p:nvSpPr>
        <p:spPr>
          <a:xfrm>
            <a:off x="2875229" y="2082913"/>
            <a:ext cx="1576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 R.W w/ Drift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BDB75-CD36-DCBF-86CC-AEE7088217C2}"/>
              </a:ext>
            </a:extLst>
          </p:cNvPr>
          <p:cNvSpPr txBox="1"/>
          <p:nvPr/>
        </p:nvSpPr>
        <p:spPr>
          <a:xfrm>
            <a:off x="1598525" y="52575"/>
            <a:ext cx="869014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Georgia" panose="02040502050405020303" pitchFamily="18" charset="0"/>
              </a:rPr>
              <a:t>Level – Full-Time Adult Ordinary Earnings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0848F2-8F41-A7A2-D450-CD0E86FED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572" y="2426174"/>
            <a:ext cx="854512" cy="3629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D3057-1D79-5AE8-BC5D-429CC3FA0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587" y="2421467"/>
            <a:ext cx="663101" cy="358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5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792A-0BC4-6AD5-9E21-E64F0503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68ED89-0356-1527-37C6-50B5BFBE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E8E0B-0EC8-02CA-B92D-6FC899543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19" y="722678"/>
            <a:ext cx="10282138" cy="61549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380FC4-5D03-A8C1-1E99-36F6537FA264}"/>
              </a:ext>
            </a:extLst>
          </p:cNvPr>
          <p:cNvSpPr txBox="1"/>
          <p:nvPr/>
        </p:nvSpPr>
        <p:spPr>
          <a:xfrm>
            <a:off x="995258" y="-13719"/>
            <a:ext cx="101818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Georgia" panose="02040502050405020303" pitchFamily="18" charset="0"/>
              </a:rPr>
              <a:t>1</a:t>
            </a:r>
            <a:r>
              <a:rPr lang="en-US" sz="3500" baseline="30000" dirty="0">
                <a:latin typeface="Georgia" panose="02040502050405020303" pitchFamily="18" charset="0"/>
              </a:rPr>
              <a:t>st</a:t>
            </a:r>
            <a:r>
              <a:rPr lang="en-US" sz="3500" dirty="0">
                <a:latin typeface="Georgia" panose="02040502050405020303" pitchFamily="18" charset="0"/>
              </a:rPr>
              <a:t> Difference – Full-time Adult Ordinary Earnings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377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373E-308E-B726-18DD-63C13C785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F9F837-B8EB-AC41-DF8F-C61C37F0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6638C-066A-9F5A-413A-39D1F5051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19" y="722678"/>
            <a:ext cx="10282138" cy="61549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604900-A066-C4BF-4081-1D516DBC157E}"/>
              </a:ext>
            </a:extLst>
          </p:cNvPr>
          <p:cNvSpPr txBox="1"/>
          <p:nvPr/>
        </p:nvSpPr>
        <p:spPr>
          <a:xfrm>
            <a:off x="995258" y="-13719"/>
            <a:ext cx="101818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Georgia" panose="02040502050405020303" pitchFamily="18" charset="0"/>
              </a:rPr>
              <a:t>1</a:t>
            </a:r>
            <a:r>
              <a:rPr lang="en-US" sz="3500" baseline="30000" dirty="0">
                <a:latin typeface="Georgia" panose="02040502050405020303" pitchFamily="18" charset="0"/>
              </a:rPr>
              <a:t>st</a:t>
            </a:r>
            <a:r>
              <a:rPr lang="en-US" sz="3500" dirty="0">
                <a:latin typeface="Georgia" panose="02040502050405020303" pitchFamily="18" charset="0"/>
              </a:rPr>
              <a:t> Difference – Full-time Adult Ordinary Earnings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C2899D-22B0-7EBC-F97E-17B208AB47C3}"/>
              </a:ext>
            </a:extLst>
          </p:cNvPr>
          <p:cNvCxnSpPr>
            <a:cxnSpLocks/>
          </p:cNvCxnSpPr>
          <p:nvPr/>
        </p:nvCxnSpPr>
        <p:spPr>
          <a:xfrm>
            <a:off x="1818968" y="3293806"/>
            <a:ext cx="95424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6C03547-C907-E955-276C-4E35676764C7}"/>
              </a:ext>
            </a:extLst>
          </p:cNvPr>
          <p:cNvSpPr txBox="1"/>
          <p:nvPr/>
        </p:nvSpPr>
        <p:spPr>
          <a:xfrm>
            <a:off x="11305083" y="3086338"/>
            <a:ext cx="981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(μ) = 40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21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2EC86-5C5E-F3C1-2FAD-C6509991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CC19B4F-F846-DB56-CDFF-4BEE6263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4D928-7F18-7548-41D3-069C53FF3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19" y="722678"/>
            <a:ext cx="10282138" cy="61549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A547AD-348B-F041-88AD-7EAB28DF8FB6}"/>
              </a:ext>
            </a:extLst>
          </p:cNvPr>
          <p:cNvSpPr txBox="1"/>
          <p:nvPr/>
        </p:nvSpPr>
        <p:spPr>
          <a:xfrm>
            <a:off x="2071686" y="4345858"/>
            <a:ext cx="3906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(μ) 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about 40 (greater than 0)</a:t>
            </a:r>
          </a:p>
          <a:p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 Random Walk w/ Drift 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906DD-D51D-D704-A584-733BA56141D8}"/>
              </a:ext>
            </a:extLst>
          </p:cNvPr>
          <p:cNvSpPr txBox="1"/>
          <p:nvPr/>
        </p:nvSpPr>
        <p:spPr>
          <a:xfrm>
            <a:off x="995258" y="-13719"/>
            <a:ext cx="101818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Georgia" panose="02040502050405020303" pitchFamily="18" charset="0"/>
              </a:rPr>
              <a:t>1</a:t>
            </a:r>
            <a:r>
              <a:rPr lang="en-US" sz="3500" baseline="30000" dirty="0">
                <a:latin typeface="Georgia" panose="02040502050405020303" pitchFamily="18" charset="0"/>
              </a:rPr>
              <a:t>st</a:t>
            </a:r>
            <a:r>
              <a:rPr lang="en-US" sz="3500" dirty="0">
                <a:latin typeface="Georgia" panose="02040502050405020303" pitchFamily="18" charset="0"/>
              </a:rPr>
              <a:t> Difference – Full-time Adult Ordinary Earnings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B31AD9-129E-8699-FA1D-D76D15E92FF4}"/>
              </a:ext>
            </a:extLst>
          </p:cNvPr>
          <p:cNvCxnSpPr>
            <a:cxnSpLocks/>
          </p:cNvCxnSpPr>
          <p:nvPr/>
        </p:nvCxnSpPr>
        <p:spPr>
          <a:xfrm>
            <a:off x="1818968" y="3293806"/>
            <a:ext cx="93264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09DF854-E4A5-2651-5FC3-C7632920FCAC}"/>
              </a:ext>
            </a:extLst>
          </p:cNvPr>
          <p:cNvSpPr txBox="1"/>
          <p:nvPr/>
        </p:nvSpPr>
        <p:spPr>
          <a:xfrm>
            <a:off x="11255983" y="3028890"/>
            <a:ext cx="1079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(μ) = 40 </a:t>
            </a:r>
            <a:endParaRPr lang="en-US" sz="2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A170EB-4A3F-5812-2820-F1C9F3DB5C42}"/>
              </a:ext>
            </a:extLst>
          </p:cNvPr>
          <p:cNvCxnSpPr>
            <a:cxnSpLocks/>
          </p:cNvCxnSpPr>
          <p:nvPr/>
        </p:nvCxnSpPr>
        <p:spPr>
          <a:xfrm>
            <a:off x="1739265" y="4257368"/>
            <a:ext cx="94805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01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E78A4-39F4-E605-8D67-2CF37558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4DE27CA-D8BD-9976-03A1-53BC3F04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1D359-7227-4525-9A0B-9A21EBCC1CC7}"/>
              </a:ext>
            </a:extLst>
          </p:cNvPr>
          <p:cNvSpPr txBox="1"/>
          <p:nvPr/>
        </p:nvSpPr>
        <p:spPr>
          <a:xfrm>
            <a:off x="2861187" y="1846927"/>
            <a:ext cx="64696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Level - ACF &amp; </a:t>
            </a:r>
            <a:r>
              <a:rPr lang="en-US" sz="8000" dirty="0">
                <a:latin typeface="Georgia" panose="02040502050405020303" pitchFamily="18" charset="0"/>
              </a:rPr>
              <a:t>PACF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75047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4D3E-9FE8-0A7E-C4A7-1673C41E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47F14-62BE-B9A0-03A0-F6C7B0BD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r>
              <a:rPr lang="en-US" sz="3500" dirty="0"/>
              <a:t>Level - ACF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93E27E5-EEEC-D2EB-6F13-7DDC0A95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62B9C-609A-2BA7-DBC8-2A3CB5DE6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98" y="722678"/>
            <a:ext cx="10097004" cy="60441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29DD39-3B1B-1F88-EBA7-D6E21063B9BA}"/>
              </a:ext>
            </a:extLst>
          </p:cNvPr>
          <p:cNvSpPr txBox="1"/>
          <p:nvPr/>
        </p:nvSpPr>
        <p:spPr>
          <a:xfrm>
            <a:off x="6086168" y="1521664"/>
            <a:ext cx="6105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Decay – have to look at PACF</a:t>
            </a:r>
          </a:p>
        </p:txBody>
      </p:sp>
    </p:spTree>
    <p:extLst>
      <p:ext uri="{BB962C8B-B14F-4D97-AF65-F5344CB8AC3E}">
        <p14:creationId xmlns:p14="http://schemas.microsoft.com/office/powerpoint/2010/main" val="2146510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7657-3D69-E840-1415-9EF24EAF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B0E6-77FF-00B6-76F1-46B41818C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r>
              <a:rPr lang="en-US" sz="3500" dirty="0"/>
              <a:t>Level - PACF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D0CBBB2-17DA-B1DA-66AB-3BB39714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E390C-8DB2-9042-D306-D538AE27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87" y="919323"/>
            <a:ext cx="9790625" cy="5860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B5CD6B-283C-1786-F958-B3EBB1AA24C5}"/>
              </a:ext>
            </a:extLst>
          </p:cNvPr>
          <p:cNvSpPr txBox="1"/>
          <p:nvPr/>
        </p:nvSpPr>
        <p:spPr>
          <a:xfrm>
            <a:off x="6086168" y="1521664"/>
            <a:ext cx="6105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Indicates AR(1) model</a:t>
            </a:r>
          </a:p>
        </p:txBody>
      </p:sp>
    </p:spTree>
    <p:extLst>
      <p:ext uri="{BB962C8B-B14F-4D97-AF65-F5344CB8AC3E}">
        <p14:creationId xmlns:p14="http://schemas.microsoft.com/office/powerpoint/2010/main" val="1211877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AA7D-BFBC-6D03-8242-73A9247D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BB1181F-CCC8-9629-0F8D-943D8DA0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8914E-E39D-44AE-EB6A-7245F284560B}"/>
              </a:ext>
            </a:extLst>
          </p:cNvPr>
          <p:cNvSpPr txBox="1"/>
          <p:nvPr/>
        </p:nvSpPr>
        <p:spPr>
          <a:xfrm>
            <a:off x="1234046" y="1699443"/>
            <a:ext cx="108497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1</a:t>
            </a:r>
            <a:r>
              <a:rPr lang="en-US" sz="8000" baseline="30000" dirty="0">
                <a:solidFill>
                  <a:srgbClr val="D8BEB2"/>
                </a:solidFill>
                <a:latin typeface="Georgia" panose="02040502050405020303" pitchFamily="18" charset="0"/>
              </a:rPr>
              <a:t>st</a:t>
            </a:r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 Difference - ACF &amp; </a:t>
            </a:r>
            <a:r>
              <a:rPr lang="en-US" sz="8000" dirty="0">
                <a:latin typeface="Georgia" panose="02040502050405020303" pitchFamily="18" charset="0"/>
              </a:rPr>
              <a:t>PACF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409019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BECA-FC4B-1B6F-991B-F8EBE848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44AC-C008-F43A-C40B-DE0D0C24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r>
              <a:rPr lang="en-US" sz="3500" dirty="0"/>
              <a:t>1</a:t>
            </a:r>
            <a:r>
              <a:rPr lang="en-US" sz="3500" baseline="30000" dirty="0"/>
              <a:t>st</a:t>
            </a:r>
            <a:r>
              <a:rPr lang="en-US" sz="3500" dirty="0"/>
              <a:t> Difference - ACF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6D476C-8ADE-BD4E-DDD0-4175F839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6734B-4B1D-B147-5114-A812401B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971550"/>
            <a:ext cx="8210550" cy="4914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2E19F7-F700-C617-26F5-F98C3480B78F}"/>
              </a:ext>
            </a:extLst>
          </p:cNvPr>
          <p:cNvSpPr txBox="1"/>
          <p:nvPr/>
        </p:nvSpPr>
        <p:spPr>
          <a:xfrm>
            <a:off x="3043083" y="4328981"/>
            <a:ext cx="43016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Lag @ [9,10] indicate structural break</a:t>
            </a:r>
          </a:p>
          <a:p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No clear cutoff</a:t>
            </a:r>
          </a:p>
        </p:txBody>
      </p:sp>
    </p:spTree>
    <p:extLst>
      <p:ext uri="{BB962C8B-B14F-4D97-AF65-F5344CB8AC3E}">
        <p14:creationId xmlns:p14="http://schemas.microsoft.com/office/powerpoint/2010/main" val="2851418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D178-C170-ADC8-D751-0BF8763C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A011-586F-D94A-4685-122D2A30C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r>
              <a:rPr lang="en-US" sz="3500" dirty="0"/>
              <a:t>1</a:t>
            </a:r>
            <a:r>
              <a:rPr lang="en-US" sz="3500" baseline="30000" dirty="0"/>
              <a:t>st</a:t>
            </a:r>
            <a:r>
              <a:rPr lang="en-US" sz="3500" dirty="0"/>
              <a:t> Difference - PACF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AD1F764-827D-CE27-EDAC-AFF48506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F0CB3-37A3-C11B-F6DE-9C9D80105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29" y="893843"/>
            <a:ext cx="10252741" cy="6137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78703D-A23C-F4EB-EC3E-C34E26F9AF61}"/>
              </a:ext>
            </a:extLst>
          </p:cNvPr>
          <p:cNvSpPr txBox="1"/>
          <p:nvPr/>
        </p:nvSpPr>
        <p:spPr>
          <a:xfrm>
            <a:off x="6996685" y="1613118"/>
            <a:ext cx="40803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Lag @ [8,10] indicate structural break</a:t>
            </a:r>
          </a:p>
          <a:p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Neither ACF and PACF show clean cutoff</a:t>
            </a:r>
          </a:p>
          <a:p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Lag @ [1] indicates Short-run dependence </a:t>
            </a:r>
          </a:p>
        </p:txBody>
      </p:sp>
    </p:spTree>
    <p:extLst>
      <p:ext uri="{BB962C8B-B14F-4D97-AF65-F5344CB8AC3E}">
        <p14:creationId xmlns:p14="http://schemas.microsoft.com/office/powerpoint/2010/main" val="840063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04CB-6D53-CE5C-DD03-3DD5E26E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AF4216-37ED-2752-6A1D-5FDC9B0F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C636A-DF25-43B1-4DE5-074DB6BF77BF}"/>
              </a:ext>
            </a:extLst>
          </p:cNvPr>
          <p:cNvSpPr txBox="1"/>
          <p:nvPr/>
        </p:nvSpPr>
        <p:spPr>
          <a:xfrm>
            <a:off x="671100" y="853869"/>
            <a:ext cx="108497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Level Series Tests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51962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43BC5-6958-832F-6722-2B715D1E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E56AC8-B271-2042-AC69-95938E34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82A4F-92ED-2CD6-3734-5C03475EA4C7}"/>
              </a:ext>
            </a:extLst>
          </p:cNvPr>
          <p:cNvSpPr txBox="1"/>
          <p:nvPr/>
        </p:nvSpPr>
        <p:spPr>
          <a:xfrm>
            <a:off x="840756" y="204940"/>
            <a:ext cx="108497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Formal </a:t>
            </a:r>
            <a:r>
              <a:rPr lang="en-US" sz="8000" u="sng" dirty="0">
                <a:solidFill>
                  <a:srgbClr val="D8BEB2"/>
                </a:solidFill>
                <a:latin typeface="Georgia" panose="02040502050405020303" pitchFamily="18" charset="0"/>
              </a:rPr>
              <a:t>ADF</a:t>
            </a:r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 Hypothesis Testing</a:t>
            </a:r>
            <a:endParaRPr lang="en-US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801B5-7245-2392-6CAD-E9983F2D561E}"/>
              </a:ext>
            </a:extLst>
          </p:cNvPr>
          <p:cNvSpPr txBox="1"/>
          <p:nvPr/>
        </p:nvSpPr>
        <p:spPr>
          <a:xfrm>
            <a:off x="120493" y="3429000"/>
            <a:ext cx="122903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ADF asks, “is the series non-stationary?”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561653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16879-3069-1BDF-3668-365E6DCE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A3B7-A7A4-C597-03A2-423A1878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466" y="147832"/>
            <a:ext cx="10396016" cy="420926"/>
          </a:xfrm>
        </p:spPr>
        <p:txBody>
          <a:bodyPr/>
          <a:lstStyle/>
          <a:p>
            <a:pPr algn="ctr"/>
            <a:r>
              <a:rPr lang="en-US" sz="2500" b="1" dirty="0"/>
              <a:t>Level</a:t>
            </a:r>
            <a:r>
              <a:rPr lang="en-US" sz="2500" dirty="0"/>
              <a:t> – ADF Unit Root Test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484B76-5880-3DE3-288E-5DCA064A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6E514B2-79F5-7512-EB56-9DBE9F96F38B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6E514B2-79F5-7512-EB56-9DBE9F96F3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00779AE6-7D9E-DB21-74E3-AA70EE160EF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91719" y="1676831"/>
            <a:ext cx="5699760" cy="16133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51A08D3-CB06-0C22-25A9-A0C100301CDE}"/>
              </a:ext>
            </a:extLst>
          </p:cNvPr>
          <p:cNvSpPr txBox="1"/>
          <p:nvPr/>
        </p:nvSpPr>
        <p:spPr>
          <a:xfrm>
            <a:off x="241642" y="722678"/>
            <a:ext cx="61058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latin typeface="Georgia" panose="02040502050405020303" pitchFamily="18" charset="0"/>
              </a:rPr>
              <a:t>ADF test</a:t>
            </a:r>
          </a:p>
        </p:txBody>
      </p:sp>
      <p:sp>
        <p:nvSpPr>
          <p:cNvPr id="47" name="正方形/長方形 24">
            <a:extLst>
              <a:ext uri="{FF2B5EF4-FFF2-40B4-BE49-F238E27FC236}">
                <a16:creationId xmlns:a16="http://schemas.microsoft.com/office/drawing/2014/main" id="{1C5C93C7-4613-BA3B-0942-F7D5AFB5FA93}"/>
              </a:ext>
            </a:extLst>
          </p:cNvPr>
          <p:cNvSpPr/>
          <p:nvPr/>
        </p:nvSpPr>
        <p:spPr>
          <a:xfrm>
            <a:off x="2457185" y="3720895"/>
            <a:ext cx="473874" cy="268949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3AC80-7C00-4B96-1BA1-F7F85295FB7C}"/>
              </a:ext>
            </a:extLst>
          </p:cNvPr>
          <p:cNvSpPr txBox="1"/>
          <p:nvPr/>
        </p:nvSpPr>
        <p:spPr>
          <a:xfrm>
            <a:off x="88682" y="4236423"/>
            <a:ext cx="6105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Ambiguous reading - doesn’t technically confirm anything but if KPPS doesn’t reject either, the answer is also ambiguous but its highly suggestive the level may be non-stationary</a:t>
            </a:r>
            <a:endParaRPr lang="en-US" sz="1600" dirty="0"/>
          </a:p>
        </p:txBody>
      </p:sp>
      <p:sp>
        <p:nvSpPr>
          <p:cNvPr id="8" name="正方形/長方形 24">
            <a:extLst>
              <a:ext uri="{FF2B5EF4-FFF2-40B4-BE49-F238E27FC236}">
                <a16:creationId xmlns:a16="http://schemas.microsoft.com/office/drawing/2014/main" id="{A734A618-C0E5-11D5-E2EE-ACA6BFDFF8A6}"/>
              </a:ext>
            </a:extLst>
          </p:cNvPr>
          <p:cNvSpPr/>
          <p:nvPr/>
        </p:nvSpPr>
        <p:spPr>
          <a:xfrm flipV="1">
            <a:off x="1533520" y="2346960"/>
            <a:ext cx="556634" cy="439631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A17FA5-6C45-12CC-AB1E-C85821EEA0D2}"/>
              </a:ext>
            </a:extLst>
          </p:cNvPr>
          <p:cNvCxnSpPr/>
          <p:nvPr/>
        </p:nvCxnSpPr>
        <p:spPr>
          <a:xfrm>
            <a:off x="6248400" y="722678"/>
            <a:ext cx="0" cy="54722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6F1-C385-3795-BBDB-EBE56CD20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54" y="1322823"/>
            <a:ext cx="5545936" cy="1701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6CAD0D-6FA3-797C-479E-B7D35800A4A5}"/>
                  </a:ext>
                </a:extLst>
              </p:cNvPr>
              <p:cNvSpPr txBox="1"/>
              <p:nvPr/>
            </p:nvSpPr>
            <p:spPr>
              <a:xfrm>
                <a:off x="1533520" y="3413055"/>
                <a:ext cx="3216157" cy="615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𝑡𝑎𝑢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 vs</m:t>
                      </m:r>
                      <m:r>
                        <m:rPr>
                          <m:nor/>
                        </m:rPr>
                        <a:rPr lang="en-US" sz="1600" b="0" i="0" dirty="0" smtClean="0"/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𝑡𝑎𝑢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𝑟𝑒𝑔𝑖𝑜𝑛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(5%)</m:t>
                              </m:r>
                            </m:e>
                            <m:sub/>
                          </m:sSub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−1.89≻3.50 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𝑓𝑎𝑖𝑙𝑒𝑑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𝑟𝑒𝑗𝑒𝑐𝑡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6CAD0D-6FA3-797C-479E-B7D35800A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20" y="3413055"/>
                <a:ext cx="3216157" cy="615681"/>
              </a:xfrm>
              <a:prstGeom prst="rect">
                <a:avLst/>
              </a:prstGeom>
              <a:blipFill>
                <a:blip r:embed="rId6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正方形/長方形 24">
            <a:extLst>
              <a:ext uri="{FF2B5EF4-FFF2-40B4-BE49-F238E27FC236}">
                <a16:creationId xmlns:a16="http://schemas.microsoft.com/office/drawing/2014/main" id="{F4C8C3C4-BD70-D22E-B16C-CDAD6D8515D2}"/>
              </a:ext>
            </a:extLst>
          </p:cNvPr>
          <p:cNvSpPr/>
          <p:nvPr/>
        </p:nvSpPr>
        <p:spPr>
          <a:xfrm flipV="1">
            <a:off x="3352800" y="1676831"/>
            <a:ext cx="812800" cy="278783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39" name="正方形/長方形 24">
            <a:extLst>
              <a:ext uri="{FF2B5EF4-FFF2-40B4-BE49-F238E27FC236}">
                <a16:creationId xmlns:a16="http://schemas.microsoft.com/office/drawing/2014/main" id="{3C9CC865-8735-D7D0-58ED-BF6DFDEC8614}"/>
              </a:ext>
            </a:extLst>
          </p:cNvPr>
          <p:cNvSpPr/>
          <p:nvPr/>
        </p:nvSpPr>
        <p:spPr>
          <a:xfrm flipV="1">
            <a:off x="1636464" y="3759787"/>
            <a:ext cx="600487" cy="23005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8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1D24-47D4-06D1-6BA9-E4748001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F9593-36E0-FBB2-4C9C-93CB877F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314" y="126922"/>
            <a:ext cx="5170171" cy="311990"/>
          </a:xfrm>
        </p:spPr>
        <p:txBody>
          <a:bodyPr/>
          <a:lstStyle/>
          <a:p>
            <a:r>
              <a:rPr lang="en-US" sz="2500" b="1" dirty="0"/>
              <a:t>Level</a:t>
            </a:r>
            <a:r>
              <a:rPr lang="en-US" sz="2500" dirty="0"/>
              <a:t> – ADF Unit Root Test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3B03EF6-3586-C690-9413-988C9158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8FD926-1120-7520-A5C3-9C65DEA38171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8FD926-1120-7520-A5C3-9C65DEA381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DF724899-1360-07F9-7172-169359EF61D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91719" y="1676831"/>
            <a:ext cx="5699760" cy="16133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E546CF2-7F8D-B23C-0211-1FC5ED5A7ECF}"/>
              </a:ext>
            </a:extLst>
          </p:cNvPr>
          <p:cNvSpPr txBox="1"/>
          <p:nvPr/>
        </p:nvSpPr>
        <p:spPr>
          <a:xfrm>
            <a:off x="241642" y="722678"/>
            <a:ext cx="61058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latin typeface="Georgia" panose="02040502050405020303" pitchFamily="18" charset="0"/>
              </a:rPr>
              <a:t>ADF test</a:t>
            </a:r>
          </a:p>
        </p:txBody>
      </p:sp>
      <p:sp>
        <p:nvSpPr>
          <p:cNvPr id="47" name="正方形/長方形 24">
            <a:extLst>
              <a:ext uri="{FF2B5EF4-FFF2-40B4-BE49-F238E27FC236}">
                <a16:creationId xmlns:a16="http://schemas.microsoft.com/office/drawing/2014/main" id="{9971E6BB-EC45-EA66-012D-7A94EB83483C}"/>
              </a:ext>
            </a:extLst>
          </p:cNvPr>
          <p:cNvSpPr/>
          <p:nvPr/>
        </p:nvSpPr>
        <p:spPr>
          <a:xfrm>
            <a:off x="2457185" y="3720895"/>
            <a:ext cx="473874" cy="268949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2A96B-95F1-0D47-8A5A-56BF9FC0FB0F}"/>
              </a:ext>
            </a:extLst>
          </p:cNvPr>
          <p:cNvSpPr txBox="1"/>
          <p:nvPr/>
        </p:nvSpPr>
        <p:spPr>
          <a:xfrm>
            <a:off x="6493730" y="722678"/>
            <a:ext cx="60688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latin typeface="Georgia" panose="02040502050405020303" pitchFamily="18" charset="0"/>
              </a:rPr>
              <a:t>Box-Ljung test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188AD0-9E6A-1711-C711-45F7D12620DB}"/>
                  </a:ext>
                </a:extLst>
              </p:cNvPr>
              <p:cNvSpPr txBox="1"/>
              <p:nvPr/>
            </p:nvSpPr>
            <p:spPr>
              <a:xfrm>
                <a:off x="5570398" y="2995783"/>
                <a:ext cx="6992150" cy="1554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&gt;0.05 →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𝑁𝑜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𝑠𝑒𝑟𝑖𝑎𝑙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𝑐𝑜𝑟𝑟𝑒𝑙𝑎𝑡𝑖𝑜𝑛</m:t>
                      </m:r>
                    </m:oMath>
                  </m:oMathPara>
                </a14:m>
                <a:endParaRPr lang="en-US" sz="15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 i="1">
                          <a:latin typeface="Cambria Math" panose="02040503050406030204" pitchFamily="18" charset="0"/>
                        </a:rPr>
                        <m:t> 0.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5152&gt;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0.05 →</m:t>
                      </m:r>
                      <m:r>
                        <a:rPr lang="en-US" sz="15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𝐹𝑎𝑖𝑙𝑒𝑑</m:t>
                      </m:r>
                      <m:r>
                        <a:rPr lang="en-US" sz="15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5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𝑅𝑒𝑗𝑒𝑐𝑡</m:t>
                      </m:r>
                      <m:r>
                        <a:rPr lang="en-US" sz="15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𝑁𝑜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𝑠𝑒𝑟𝑖𝑎𝑙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𝑐𝑜𝑟𝑟𝑒𝑙𝑎𝑡𝑖𝑜𝑛</m:t>
                      </m:r>
                    </m:oMath>
                  </m:oMathPara>
                </a14:m>
                <a:endParaRPr lang="en-US" sz="1500" dirty="0"/>
              </a:p>
              <a:p>
                <a:endParaRPr lang="en-US" sz="2000" dirty="0"/>
              </a:p>
              <a:p>
                <a:r>
                  <a:rPr lang="en-US" sz="2000" dirty="0"/>
                  <a:t>	</a:t>
                </a:r>
              </a:p>
              <a:p>
                <a:endParaRPr lang="en-US" sz="25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188AD0-9E6A-1711-C711-45F7D1262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398" y="2995783"/>
                <a:ext cx="6992150" cy="1554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正方形/長方形 24">
            <a:extLst>
              <a:ext uri="{FF2B5EF4-FFF2-40B4-BE49-F238E27FC236}">
                <a16:creationId xmlns:a16="http://schemas.microsoft.com/office/drawing/2014/main" id="{2E6671F8-D216-BE06-6EDD-439E89FD2BDE}"/>
              </a:ext>
            </a:extLst>
          </p:cNvPr>
          <p:cNvSpPr/>
          <p:nvPr/>
        </p:nvSpPr>
        <p:spPr>
          <a:xfrm>
            <a:off x="6505322" y="3290170"/>
            <a:ext cx="673104" cy="243809"/>
          </a:xfrm>
          <a:prstGeom prst="rect">
            <a:avLst/>
          </a:prstGeom>
          <a:solidFill>
            <a:srgbClr val="005C2A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ln>
                <a:solidFill>
                  <a:srgbClr val="007E39"/>
                </a:solidFill>
              </a:ln>
              <a:solidFill>
                <a:srgbClr val="007E3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1D8B1-2E0C-3F9E-0533-422F8B0AA0CB}"/>
              </a:ext>
            </a:extLst>
          </p:cNvPr>
          <p:cNvSpPr txBox="1"/>
          <p:nvPr/>
        </p:nvSpPr>
        <p:spPr>
          <a:xfrm>
            <a:off x="88682" y="4236423"/>
            <a:ext cx="61058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Null Hypothesis of “there is a unit root”</a:t>
            </a:r>
          </a:p>
          <a:p>
            <a:endParaRPr lang="en-US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Ambiguous reading - doesn’t technically confirm anything but if KPPS doesn’t reject either, the answer is also ambiguous but its highly suggestive the level may be non-stationary</a:t>
            </a:r>
            <a:endParaRPr lang="en-US" sz="1600" dirty="0"/>
          </a:p>
        </p:txBody>
      </p:sp>
      <p:sp>
        <p:nvSpPr>
          <p:cNvPr id="8" name="正方形/長方形 24">
            <a:extLst>
              <a:ext uri="{FF2B5EF4-FFF2-40B4-BE49-F238E27FC236}">
                <a16:creationId xmlns:a16="http://schemas.microsoft.com/office/drawing/2014/main" id="{36F5A253-D4B3-DBFE-8FCA-CF6605494D95}"/>
              </a:ext>
            </a:extLst>
          </p:cNvPr>
          <p:cNvSpPr/>
          <p:nvPr/>
        </p:nvSpPr>
        <p:spPr>
          <a:xfrm flipV="1">
            <a:off x="1533520" y="2346960"/>
            <a:ext cx="556634" cy="439631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F2C45-F875-A4E4-1786-10FF645ABFA8}"/>
              </a:ext>
            </a:extLst>
          </p:cNvPr>
          <p:cNvSpPr txBox="1"/>
          <p:nvPr/>
        </p:nvSpPr>
        <p:spPr>
          <a:xfrm>
            <a:off x="6456716" y="3948165"/>
            <a:ext cx="55376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Errors are </a:t>
            </a:r>
            <a:r>
              <a:rPr lang="en-US" sz="1600" dirty="0">
                <a:solidFill>
                  <a:srgbClr val="00B050"/>
                </a:solidFill>
              </a:rPr>
              <a:t>not serial correlated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–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this is expected from ADF test.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Errors are sufficiently white noise (pure random)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Model has extracted all predictable structure from series with only 1 lag term (via AIC selection)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E0D697-5E95-002F-EAB1-F8F31E3559AD}"/>
              </a:ext>
            </a:extLst>
          </p:cNvPr>
          <p:cNvCxnSpPr/>
          <p:nvPr/>
        </p:nvCxnSpPr>
        <p:spPr>
          <a:xfrm>
            <a:off x="6248400" y="722678"/>
            <a:ext cx="0" cy="54722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93B877E-6170-B273-FFD7-8154CDD792DF}"/>
              </a:ext>
            </a:extLst>
          </p:cNvPr>
          <p:cNvSpPr txBox="1"/>
          <p:nvPr/>
        </p:nvSpPr>
        <p:spPr>
          <a:xfrm>
            <a:off x="6360759" y="1219236"/>
            <a:ext cx="6334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Test serial correlation for ADF test:</a:t>
            </a:r>
            <a:endParaRPr lang="en-US" sz="2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71AA2DD-1269-80DE-D0BC-0D06FD4007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54" y="1322823"/>
            <a:ext cx="5545936" cy="1701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BB52897-A756-8282-DDED-2D3A0946E15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55569" y="1980403"/>
            <a:ext cx="3817951" cy="8382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6E2701E-BEC4-7714-DBBA-4229061BA3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674" y="1701021"/>
            <a:ext cx="5616427" cy="167655"/>
          </a:xfrm>
          <a:prstGeom prst="rect">
            <a:avLst/>
          </a:prstGeom>
        </p:spPr>
      </p:pic>
      <p:sp>
        <p:nvSpPr>
          <p:cNvPr id="16" name="正方形/長方形 24">
            <a:extLst>
              <a:ext uri="{FF2B5EF4-FFF2-40B4-BE49-F238E27FC236}">
                <a16:creationId xmlns:a16="http://schemas.microsoft.com/office/drawing/2014/main" id="{55193A4F-91AD-240C-7CBB-B103BA50DE15}"/>
              </a:ext>
            </a:extLst>
          </p:cNvPr>
          <p:cNvSpPr/>
          <p:nvPr/>
        </p:nvSpPr>
        <p:spPr>
          <a:xfrm>
            <a:off x="9963863" y="2518684"/>
            <a:ext cx="533400" cy="167655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CABAB5-9FD7-F148-C200-7B56053C6B1F}"/>
                  </a:ext>
                </a:extLst>
              </p:cNvPr>
              <p:cNvSpPr txBox="1"/>
              <p:nvPr/>
            </p:nvSpPr>
            <p:spPr>
              <a:xfrm>
                <a:off x="1533520" y="3413055"/>
                <a:ext cx="3216157" cy="615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𝑡𝑎𝑢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 v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𝑡𝑎𝑢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𝑐𝑟𝑖𝑡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𝑟𝑒𝑔𝑖𝑜𝑛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−1.89≻3.50 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𝑓𝑎𝑖𝑙𝑒𝑑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𝑟𝑒𝑗𝑒𝑐𝑡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CABAB5-9FD7-F148-C200-7B56053C6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20" y="3413055"/>
                <a:ext cx="3216157" cy="615681"/>
              </a:xfrm>
              <a:prstGeom prst="rect">
                <a:avLst/>
              </a:prstGeom>
              <a:blipFill>
                <a:blip r:embed="rId9"/>
                <a:stretch>
                  <a:fillRect b="-4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正方形/長方形 24">
            <a:extLst>
              <a:ext uri="{FF2B5EF4-FFF2-40B4-BE49-F238E27FC236}">
                <a16:creationId xmlns:a16="http://schemas.microsoft.com/office/drawing/2014/main" id="{A5842754-CC9E-6DF2-0A18-B5D72A723A01}"/>
              </a:ext>
            </a:extLst>
          </p:cNvPr>
          <p:cNvSpPr/>
          <p:nvPr/>
        </p:nvSpPr>
        <p:spPr>
          <a:xfrm flipV="1">
            <a:off x="3352800" y="1676831"/>
            <a:ext cx="812800" cy="278783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39" name="正方形/長方形 24">
            <a:extLst>
              <a:ext uri="{FF2B5EF4-FFF2-40B4-BE49-F238E27FC236}">
                <a16:creationId xmlns:a16="http://schemas.microsoft.com/office/drawing/2014/main" id="{1982BF79-888F-52D3-6643-9DC2D0387639}"/>
              </a:ext>
            </a:extLst>
          </p:cNvPr>
          <p:cNvSpPr/>
          <p:nvPr/>
        </p:nvSpPr>
        <p:spPr>
          <a:xfrm flipV="1">
            <a:off x="1636464" y="3759787"/>
            <a:ext cx="600487" cy="23005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92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5E550-B17B-D98C-492A-06C2411D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3D1B05-6FCB-BCC1-99FC-90A5796A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F77BD-1B13-3546-AC8D-3AC8A03F165D}"/>
              </a:ext>
            </a:extLst>
          </p:cNvPr>
          <p:cNvSpPr txBox="1"/>
          <p:nvPr/>
        </p:nvSpPr>
        <p:spPr>
          <a:xfrm>
            <a:off x="840756" y="204940"/>
            <a:ext cx="108497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Formal </a:t>
            </a:r>
            <a:r>
              <a:rPr lang="en-US" sz="8000" u="sng" dirty="0">
                <a:solidFill>
                  <a:srgbClr val="D8BEB2"/>
                </a:solidFill>
                <a:latin typeface="Georgia" panose="02040502050405020303" pitchFamily="18" charset="0"/>
              </a:rPr>
              <a:t>KPSS</a:t>
            </a:r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 Hypothesis Testing</a:t>
            </a:r>
            <a:endParaRPr lang="en-US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010E9-F311-BB7E-E65E-4407A900C940}"/>
              </a:ext>
            </a:extLst>
          </p:cNvPr>
          <p:cNvSpPr txBox="1"/>
          <p:nvPr/>
        </p:nvSpPr>
        <p:spPr>
          <a:xfrm>
            <a:off x="120493" y="3335064"/>
            <a:ext cx="122903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KPSS asks, “is the series stationary?”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4003266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B7CA6-6697-99E6-8899-250869D5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7F32-335D-B651-2C0D-162C1D237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pPr algn="ctr"/>
            <a:r>
              <a:rPr lang="en-US" sz="2500" b="1" dirty="0"/>
              <a:t>Level</a:t>
            </a:r>
            <a:r>
              <a:rPr lang="en-US" sz="2500" dirty="0"/>
              <a:t> – KPSS TEST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D0C1051-B41C-CC9D-1E99-5D6E5CBE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CC66B1-23FE-F112-0E6F-A748EF10A70B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CC66B1-23FE-F112-0E6F-A748EF10A7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1A12E54-7379-761A-40D3-CA9AD211F10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1059" y="2092297"/>
            <a:ext cx="5380651" cy="267340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正方形/長方形 24">
            <a:extLst>
              <a:ext uri="{FF2B5EF4-FFF2-40B4-BE49-F238E27FC236}">
                <a16:creationId xmlns:a16="http://schemas.microsoft.com/office/drawing/2014/main" id="{B706F24F-D25F-BB21-BD43-B719D5FBF9CA}"/>
              </a:ext>
            </a:extLst>
          </p:cNvPr>
          <p:cNvSpPr/>
          <p:nvPr/>
        </p:nvSpPr>
        <p:spPr>
          <a:xfrm flipV="1">
            <a:off x="3878580" y="3483590"/>
            <a:ext cx="781148" cy="229890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4" name="正方形/長方形 24">
            <a:extLst>
              <a:ext uri="{FF2B5EF4-FFF2-40B4-BE49-F238E27FC236}">
                <a16:creationId xmlns:a16="http://schemas.microsoft.com/office/drawing/2014/main" id="{655257B0-54E8-1F83-3CE1-EC03087E9849}"/>
              </a:ext>
            </a:extLst>
          </p:cNvPr>
          <p:cNvSpPr/>
          <p:nvPr/>
        </p:nvSpPr>
        <p:spPr>
          <a:xfrm flipV="1">
            <a:off x="3220845" y="4175758"/>
            <a:ext cx="657735" cy="462899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300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7E5C6-0329-245A-5557-612DD20B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DE7914-E9A7-52B2-C5EB-2922FBA23EE6}"/>
                  </a:ext>
                </a:extLst>
              </p:cNvPr>
              <p:cNvSpPr txBox="1"/>
              <p:nvPr/>
            </p:nvSpPr>
            <p:spPr>
              <a:xfrm>
                <a:off x="6061710" y="2623265"/>
                <a:ext cx="6207760" cy="608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𝑡𝑎𝑢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𝐾𝑃𝑆𝑆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𝑣𝑠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𝑡𝑎𝑢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𝑐𝑟𝑖𝑡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𝑟𝑒𝑔𝑖𝑜𝑛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.13&lt;0.14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𝑓𝑎𝑖𝑙𝑒𝑑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𝑟𝑒𝑗𝑒𝑐𝑡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DE7914-E9A7-52B2-C5EB-2922FBA23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710" y="2623265"/>
                <a:ext cx="6207760" cy="608500"/>
              </a:xfrm>
              <a:prstGeom prst="rect">
                <a:avLst/>
              </a:prstGeom>
              <a:blipFill>
                <a:blip r:embed="rId2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1DA7E9E-7A4C-1479-D387-FDCF1D87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pPr algn="ctr"/>
            <a:r>
              <a:rPr lang="en-US" sz="2500" b="1" dirty="0"/>
              <a:t>Level</a:t>
            </a:r>
            <a:r>
              <a:rPr lang="en-US" sz="2500" dirty="0"/>
              <a:t> – KPSS TEST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D6844E-7F0C-48DB-B880-8D0F97AC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9D7F02-6B0E-B4EB-517E-49CD35DE46A9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49D7F02-6B0E-B4EB-517E-49CD35DE46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2F7BA0-456F-BE02-7E5A-C5589C56139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1059" y="2092297"/>
            <a:ext cx="5380651" cy="267340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D3494B31-FBDE-1426-EBB8-0CA94E32E5A3}"/>
              </a:ext>
            </a:extLst>
          </p:cNvPr>
          <p:cNvSpPr/>
          <p:nvPr/>
        </p:nvSpPr>
        <p:spPr>
          <a:xfrm flipV="1">
            <a:off x="8402986" y="2963669"/>
            <a:ext cx="423863" cy="23005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8" name="正方形/長方形 24">
            <a:extLst>
              <a:ext uri="{FF2B5EF4-FFF2-40B4-BE49-F238E27FC236}">
                <a16:creationId xmlns:a16="http://schemas.microsoft.com/office/drawing/2014/main" id="{51309365-8009-EE31-33A7-65433124B88C}"/>
              </a:ext>
            </a:extLst>
          </p:cNvPr>
          <p:cNvSpPr/>
          <p:nvPr/>
        </p:nvSpPr>
        <p:spPr>
          <a:xfrm flipV="1">
            <a:off x="7763413" y="2963669"/>
            <a:ext cx="423863" cy="21100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1" name="正方形/長方形 24">
            <a:extLst>
              <a:ext uri="{FF2B5EF4-FFF2-40B4-BE49-F238E27FC236}">
                <a16:creationId xmlns:a16="http://schemas.microsoft.com/office/drawing/2014/main" id="{ACE275D7-FDAF-1920-71AB-2784BD9498B7}"/>
              </a:ext>
            </a:extLst>
          </p:cNvPr>
          <p:cNvSpPr/>
          <p:nvPr/>
        </p:nvSpPr>
        <p:spPr>
          <a:xfrm flipV="1">
            <a:off x="3878580" y="3483590"/>
            <a:ext cx="781148" cy="229890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4" name="正方形/長方形 24">
            <a:extLst>
              <a:ext uri="{FF2B5EF4-FFF2-40B4-BE49-F238E27FC236}">
                <a16:creationId xmlns:a16="http://schemas.microsoft.com/office/drawing/2014/main" id="{D488A47B-9158-F2DA-416A-FC245BF17C96}"/>
              </a:ext>
            </a:extLst>
          </p:cNvPr>
          <p:cNvSpPr/>
          <p:nvPr/>
        </p:nvSpPr>
        <p:spPr>
          <a:xfrm flipV="1">
            <a:off x="3220845" y="4175758"/>
            <a:ext cx="657735" cy="462899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68F597-2AD0-9AE5-6FA4-F61AF97B8B9B}"/>
              </a:ext>
            </a:extLst>
          </p:cNvPr>
          <p:cNvSpPr txBox="1"/>
          <p:nvPr/>
        </p:nvSpPr>
        <p:spPr>
          <a:xfrm>
            <a:off x="7018528" y="3491871"/>
            <a:ext cx="6207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Ambiguous reading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Highly suggestive the level may be non-stationary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6B29C4-4C74-9DA3-E573-DB2A9922C31E}"/>
              </a:ext>
            </a:extLst>
          </p:cNvPr>
          <p:cNvSpPr txBox="1"/>
          <p:nvPr/>
        </p:nvSpPr>
        <p:spPr>
          <a:xfrm>
            <a:off x="8139884" y="1912122"/>
            <a:ext cx="181483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latin typeface="Georgia" panose="02040502050405020303" pitchFamily="18" charset="0"/>
              </a:rPr>
              <a:t>KPSS test</a:t>
            </a:r>
          </a:p>
        </p:txBody>
      </p:sp>
    </p:spTree>
    <p:extLst>
      <p:ext uri="{BB962C8B-B14F-4D97-AF65-F5344CB8AC3E}">
        <p14:creationId xmlns:p14="http://schemas.microsoft.com/office/powerpoint/2010/main" val="1630636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CD01D-2A29-CFCE-D01F-0B6679CA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C07807B-B42D-760B-54AA-028B43E8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21D10-4FCE-B1E8-2448-75A0B083EB20}"/>
              </a:ext>
            </a:extLst>
          </p:cNvPr>
          <p:cNvSpPr txBox="1"/>
          <p:nvPr/>
        </p:nvSpPr>
        <p:spPr>
          <a:xfrm>
            <a:off x="276556" y="716218"/>
            <a:ext cx="11638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1</a:t>
            </a:r>
            <a:r>
              <a:rPr lang="en-US" sz="8000" baseline="30000" dirty="0">
                <a:solidFill>
                  <a:srgbClr val="D8BEB2"/>
                </a:solidFill>
                <a:latin typeface="Georgia" panose="02040502050405020303" pitchFamily="18" charset="0"/>
              </a:rPr>
              <a:t>ST </a:t>
            </a:r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▲ Series Tests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734740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6C04-1E2F-D3BC-9C1B-0122B969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EA0CEA8-659E-C788-5D8C-EAEED5CB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0A359-CA60-2E7B-4D30-E761EEE1912E}"/>
              </a:ext>
            </a:extLst>
          </p:cNvPr>
          <p:cNvSpPr txBox="1"/>
          <p:nvPr/>
        </p:nvSpPr>
        <p:spPr>
          <a:xfrm>
            <a:off x="840756" y="204940"/>
            <a:ext cx="108497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Formal </a:t>
            </a:r>
            <a:r>
              <a:rPr lang="en-US" sz="8000" u="sng" dirty="0">
                <a:solidFill>
                  <a:srgbClr val="D8BEB2"/>
                </a:solidFill>
                <a:latin typeface="Georgia" panose="02040502050405020303" pitchFamily="18" charset="0"/>
              </a:rPr>
              <a:t>ADF</a:t>
            </a:r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 Hypothesis Testing</a:t>
            </a:r>
            <a:endParaRPr lang="en-US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ACF6A-B45A-D6D2-415E-B854FD701003}"/>
              </a:ext>
            </a:extLst>
          </p:cNvPr>
          <p:cNvSpPr txBox="1"/>
          <p:nvPr/>
        </p:nvSpPr>
        <p:spPr>
          <a:xfrm>
            <a:off x="120493" y="3429000"/>
            <a:ext cx="122903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ADF asks, “is the series non-stationary?”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1157786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AEEAB-4A34-7E18-1EA2-AF5F5BCA1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76765C-4A8D-EAB4-A0BC-980D4584FE42}"/>
                  </a:ext>
                </a:extLst>
              </p:cNvPr>
              <p:cNvSpPr txBox="1"/>
              <p:nvPr/>
            </p:nvSpPr>
            <p:spPr>
              <a:xfrm>
                <a:off x="1533520" y="3413055"/>
                <a:ext cx="3529681" cy="608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𝑡𝑎𝑢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 v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𝑡𝑎𝑢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𝑐𝑟𝑖𝑡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𝑟𝑒𝑔𝑖𝑜𝑛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−5.16&lt;−2.93 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𝑅𝑒𝑗𝑒𝑐𝑡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𝑁𝑢𝑙𝑙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76765C-4A8D-EAB4-A0BC-980D4584F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20" y="3413055"/>
                <a:ext cx="3529681" cy="608500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57B29E-8003-8410-109F-3159A5D8C0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91719" y="1624334"/>
            <a:ext cx="5681363" cy="1722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020B0B-D492-ADB3-D0BB-1BF77D67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314" y="165216"/>
            <a:ext cx="5170171" cy="311990"/>
          </a:xfrm>
        </p:spPr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1</a:t>
            </a:r>
            <a:r>
              <a:rPr lang="en-US" sz="2800" baseline="30000" dirty="0">
                <a:latin typeface="Georgia" panose="02040502050405020303" pitchFamily="18" charset="0"/>
              </a:rPr>
              <a:t>st</a:t>
            </a:r>
            <a:r>
              <a:rPr lang="en-US" sz="2500" b="1" dirty="0"/>
              <a:t> </a:t>
            </a:r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▲</a:t>
            </a:r>
            <a:r>
              <a:rPr lang="en-US" sz="2500" dirty="0"/>
              <a:t> – ADF Unit Root Test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692742-159A-1E63-60D3-4840B91C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BC129D-3125-E266-1CD8-945B86D74D9F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BC129D-3125-E266-1CD8-945B86D74D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174FCC3-D82E-38E0-9045-7BAF75391215}"/>
              </a:ext>
            </a:extLst>
          </p:cNvPr>
          <p:cNvSpPr txBox="1"/>
          <p:nvPr/>
        </p:nvSpPr>
        <p:spPr>
          <a:xfrm>
            <a:off x="241642" y="722678"/>
            <a:ext cx="61058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latin typeface="Georgia" panose="02040502050405020303" pitchFamily="18" charset="0"/>
              </a:rPr>
              <a:t>ADF test</a:t>
            </a:r>
          </a:p>
        </p:txBody>
      </p:sp>
      <p:sp>
        <p:nvSpPr>
          <p:cNvPr id="47" name="正方形/長方形 24">
            <a:extLst>
              <a:ext uri="{FF2B5EF4-FFF2-40B4-BE49-F238E27FC236}">
                <a16:creationId xmlns:a16="http://schemas.microsoft.com/office/drawing/2014/main" id="{2924B2F0-C3AA-EFA9-3B8D-A2BEE64ACFD9}"/>
              </a:ext>
            </a:extLst>
          </p:cNvPr>
          <p:cNvSpPr/>
          <p:nvPr/>
        </p:nvSpPr>
        <p:spPr>
          <a:xfrm>
            <a:off x="2730365" y="3753182"/>
            <a:ext cx="564193" cy="23005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95BFC-B191-2700-B005-9F7F7FB6658E}"/>
              </a:ext>
            </a:extLst>
          </p:cNvPr>
          <p:cNvSpPr txBox="1"/>
          <p:nvPr/>
        </p:nvSpPr>
        <p:spPr>
          <a:xfrm>
            <a:off x="88682" y="4236423"/>
            <a:ext cx="61058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Null Hypothesis of “there is a unit root”</a:t>
            </a:r>
          </a:p>
          <a:p>
            <a:endParaRPr lang="en-US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Rejected null hypothesis “series is non-stationary” highly indicative series is stationary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If KPSS test doesn’t reject its null, then series is confirmed stationary</a:t>
            </a:r>
            <a:endParaRPr lang="en-US" sz="16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C4ABC2-F77C-4F9B-AC5A-BF8845CD24A3}"/>
              </a:ext>
            </a:extLst>
          </p:cNvPr>
          <p:cNvCxnSpPr/>
          <p:nvPr/>
        </p:nvCxnSpPr>
        <p:spPr>
          <a:xfrm>
            <a:off x="6248400" y="722678"/>
            <a:ext cx="0" cy="54722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24">
            <a:extLst>
              <a:ext uri="{FF2B5EF4-FFF2-40B4-BE49-F238E27FC236}">
                <a16:creationId xmlns:a16="http://schemas.microsoft.com/office/drawing/2014/main" id="{6BD86016-FAE7-A282-1A01-8CA38839C72D}"/>
              </a:ext>
            </a:extLst>
          </p:cNvPr>
          <p:cNvSpPr/>
          <p:nvPr/>
        </p:nvSpPr>
        <p:spPr>
          <a:xfrm flipV="1">
            <a:off x="3840480" y="1700631"/>
            <a:ext cx="909197" cy="290221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39" name="正方形/長方形 24">
            <a:extLst>
              <a:ext uri="{FF2B5EF4-FFF2-40B4-BE49-F238E27FC236}">
                <a16:creationId xmlns:a16="http://schemas.microsoft.com/office/drawing/2014/main" id="{250F0963-5D20-33AA-E6DF-013164B173DD}"/>
              </a:ext>
            </a:extLst>
          </p:cNvPr>
          <p:cNvSpPr/>
          <p:nvPr/>
        </p:nvSpPr>
        <p:spPr>
          <a:xfrm flipV="1">
            <a:off x="1921563" y="3742702"/>
            <a:ext cx="600487" cy="23005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0" name="正方形/長方形 24">
            <a:extLst>
              <a:ext uri="{FF2B5EF4-FFF2-40B4-BE49-F238E27FC236}">
                <a16:creationId xmlns:a16="http://schemas.microsoft.com/office/drawing/2014/main" id="{ECAF61C2-53FD-0DAD-93FC-3B07FD36736D}"/>
              </a:ext>
            </a:extLst>
          </p:cNvPr>
          <p:cNvSpPr/>
          <p:nvPr/>
        </p:nvSpPr>
        <p:spPr>
          <a:xfrm flipV="1">
            <a:off x="1694737" y="2440372"/>
            <a:ext cx="742942" cy="528006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0510F7-ADFE-D55D-E801-2FC5FC35F2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1" y="1321939"/>
            <a:ext cx="5979034" cy="1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7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E8AF3-82DF-AA48-16CE-14782645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2A120C9-C51A-CC0E-7D21-A11610D8CD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178447" y="1941762"/>
            <a:ext cx="4083910" cy="9811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2F3C2C-96B2-B567-82B1-0C2A02AC15AC}"/>
                  </a:ext>
                </a:extLst>
              </p:cNvPr>
              <p:cNvSpPr txBox="1"/>
              <p:nvPr/>
            </p:nvSpPr>
            <p:spPr>
              <a:xfrm>
                <a:off x="1533520" y="3413055"/>
                <a:ext cx="3529681" cy="608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𝑡𝑎𝑢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 v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𝑡𝑎𝑢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𝑐𝑟𝑖𝑡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𝑟𝑒𝑔𝑖𝑜𝑛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5.16&lt;−2.93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𝑅𝑒𝑗𝑒𝑐𝑡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𝑁𝑢𝑙𝑙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2F3C2C-96B2-B567-82B1-0C2A02AC1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20" y="3413055"/>
                <a:ext cx="3529681" cy="608500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24A08D-5C8A-85BC-3BAC-63880D9C12A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91719" y="1624334"/>
            <a:ext cx="5681363" cy="1722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54C29-136E-6921-E22A-E5EA2517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314" y="165216"/>
            <a:ext cx="5170171" cy="311990"/>
          </a:xfrm>
        </p:spPr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1</a:t>
            </a:r>
            <a:r>
              <a:rPr lang="en-US" sz="2800" baseline="30000" dirty="0">
                <a:latin typeface="Georgia" panose="02040502050405020303" pitchFamily="18" charset="0"/>
              </a:rPr>
              <a:t>st</a:t>
            </a:r>
            <a:r>
              <a:rPr lang="en-US" sz="2500" b="1" dirty="0"/>
              <a:t> </a:t>
            </a:r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▲</a:t>
            </a:r>
            <a:r>
              <a:rPr lang="en-US" sz="2500" dirty="0"/>
              <a:t> – ADF Unit Root Test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F3AE7D9-C507-3FD3-28B1-56C7983B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5DF8CD-EC1E-7F15-519F-E3AEC6E7D69E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5DF8CD-EC1E-7F15-519F-E3AEC6E7D6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9DF5A75-3B18-676F-FBCC-BE36D56B135C}"/>
              </a:ext>
            </a:extLst>
          </p:cNvPr>
          <p:cNvSpPr txBox="1"/>
          <p:nvPr/>
        </p:nvSpPr>
        <p:spPr>
          <a:xfrm>
            <a:off x="241642" y="722678"/>
            <a:ext cx="61058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latin typeface="Georgia" panose="02040502050405020303" pitchFamily="18" charset="0"/>
              </a:rPr>
              <a:t>ADF test</a:t>
            </a:r>
          </a:p>
        </p:txBody>
      </p:sp>
      <p:sp>
        <p:nvSpPr>
          <p:cNvPr id="47" name="正方形/長方形 24">
            <a:extLst>
              <a:ext uri="{FF2B5EF4-FFF2-40B4-BE49-F238E27FC236}">
                <a16:creationId xmlns:a16="http://schemas.microsoft.com/office/drawing/2014/main" id="{1F5FFD25-CA4A-80B7-124F-220EE6D5D41E}"/>
              </a:ext>
            </a:extLst>
          </p:cNvPr>
          <p:cNvSpPr/>
          <p:nvPr/>
        </p:nvSpPr>
        <p:spPr>
          <a:xfrm>
            <a:off x="2730365" y="3753182"/>
            <a:ext cx="564193" cy="23005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C4E74-B3A2-B3DD-1787-DE9E28800165}"/>
              </a:ext>
            </a:extLst>
          </p:cNvPr>
          <p:cNvSpPr txBox="1"/>
          <p:nvPr/>
        </p:nvSpPr>
        <p:spPr>
          <a:xfrm>
            <a:off x="6493730" y="722678"/>
            <a:ext cx="60688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latin typeface="Georgia" panose="02040502050405020303" pitchFamily="18" charset="0"/>
              </a:rPr>
              <a:t>Box-Ljung test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DB979F-736E-5D83-B099-A623D211D759}"/>
                  </a:ext>
                </a:extLst>
              </p:cNvPr>
              <p:cNvSpPr txBox="1"/>
              <p:nvPr/>
            </p:nvSpPr>
            <p:spPr>
              <a:xfrm>
                <a:off x="5570398" y="2995783"/>
                <a:ext cx="6992150" cy="1554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&gt;0.05 →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𝑁𝑜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𝑠𝑒𝑟𝑖𝑎𝑙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𝑐𝑜𝑟𝑟𝑒𝑙𝑎𝑡𝑖𝑜𝑛</m:t>
                      </m:r>
                    </m:oMath>
                  </m:oMathPara>
                </a14:m>
                <a:endParaRPr lang="en-US" sz="15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 i="1">
                          <a:latin typeface="Cambria Math" panose="02040503050406030204" pitchFamily="18" charset="0"/>
                        </a:rPr>
                        <m:t> 0.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601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0.05 →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𝐹𝑎𝑖𝑙𝑒𝑑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𝑅𝑒𝑗𝑒𝑐𝑡</m:t>
                      </m:r>
                      <m:r>
                        <a:rPr lang="en-US" sz="15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𝑁𝑜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𝑠𝑒𝑟𝑖𝑎𝑙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𝑐𝑜𝑟𝑟𝑒𝑙𝑎𝑡𝑖𝑜𝑛</m:t>
                      </m:r>
                    </m:oMath>
                  </m:oMathPara>
                </a14:m>
                <a:endParaRPr lang="en-US" sz="1500" dirty="0"/>
              </a:p>
              <a:p>
                <a:endParaRPr lang="en-US" sz="2000" dirty="0"/>
              </a:p>
              <a:p>
                <a:r>
                  <a:rPr lang="en-US" sz="2000" dirty="0"/>
                  <a:t>	</a:t>
                </a:r>
              </a:p>
              <a:p>
                <a:endParaRPr lang="en-US" sz="25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DB979F-736E-5D83-B099-A623D211D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398" y="2995783"/>
                <a:ext cx="6992150" cy="15542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正方形/長方形 24">
            <a:extLst>
              <a:ext uri="{FF2B5EF4-FFF2-40B4-BE49-F238E27FC236}">
                <a16:creationId xmlns:a16="http://schemas.microsoft.com/office/drawing/2014/main" id="{C4BD3C62-EA89-47F6-76FC-71C417BD1E5D}"/>
              </a:ext>
            </a:extLst>
          </p:cNvPr>
          <p:cNvSpPr/>
          <p:nvPr/>
        </p:nvSpPr>
        <p:spPr>
          <a:xfrm>
            <a:off x="6523719" y="3278093"/>
            <a:ext cx="673104" cy="243809"/>
          </a:xfrm>
          <a:prstGeom prst="rect">
            <a:avLst/>
          </a:prstGeom>
          <a:solidFill>
            <a:srgbClr val="005C2A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ln>
                <a:solidFill>
                  <a:srgbClr val="007E39"/>
                </a:solidFill>
              </a:ln>
              <a:solidFill>
                <a:srgbClr val="007E3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46B56-5227-D389-6007-83555E80E5F9}"/>
              </a:ext>
            </a:extLst>
          </p:cNvPr>
          <p:cNvSpPr txBox="1"/>
          <p:nvPr/>
        </p:nvSpPr>
        <p:spPr>
          <a:xfrm>
            <a:off x="88682" y="4236423"/>
            <a:ext cx="61058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Null Hypothesis of “there is a unit root”</a:t>
            </a:r>
          </a:p>
          <a:p>
            <a:endParaRPr lang="en-US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Rejected null hypothesis “series is non-stationary” highly indicative series is stationary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If KPSS test doesn’t reject its null, then series is confirmed stationary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240341-6707-FDBE-C826-F42B3747116F}"/>
              </a:ext>
            </a:extLst>
          </p:cNvPr>
          <p:cNvSpPr txBox="1"/>
          <p:nvPr/>
        </p:nvSpPr>
        <p:spPr>
          <a:xfrm>
            <a:off x="6456716" y="3948165"/>
            <a:ext cx="55376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Errors are </a:t>
            </a:r>
            <a:r>
              <a:rPr lang="en-US" sz="1600" dirty="0">
                <a:solidFill>
                  <a:srgbClr val="00B050"/>
                </a:solidFill>
              </a:rPr>
              <a:t>not serial correlated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–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this is expected from ADF test.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Errors are sufficiently white noise (pure random)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Model has extracted all predictable structure from series with only 1 lag term (via AIC selection)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2C7B44-9908-DE63-705D-9D1EF163A643}"/>
              </a:ext>
            </a:extLst>
          </p:cNvPr>
          <p:cNvCxnSpPr/>
          <p:nvPr/>
        </p:nvCxnSpPr>
        <p:spPr>
          <a:xfrm>
            <a:off x="6248400" y="722678"/>
            <a:ext cx="0" cy="54722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E562513-32CB-E110-C5D7-61EC5240847A}"/>
              </a:ext>
            </a:extLst>
          </p:cNvPr>
          <p:cNvSpPr txBox="1"/>
          <p:nvPr/>
        </p:nvSpPr>
        <p:spPr>
          <a:xfrm>
            <a:off x="6360759" y="1219236"/>
            <a:ext cx="6334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Test serial correlation for ADF test:</a:t>
            </a:r>
            <a:endParaRPr lang="en-US" sz="2000" dirty="0"/>
          </a:p>
        </p:txBody>
      </p:sp>
      <p:sp>
        <p:nvSpPr>
          <p:cNvPr id="16" name="正方形/長方形 24">
            <a:extLst>
              <a:ext uri="{FF2B5EF4-FFF2-40B4-BE49-F238E27FC236}">
                <a16:creationId xmlns:a16="http://schemas.microsoft.com/office/drawing/2014/main" id="{1AB26B00-1356-749E-5CA2-3328AF4D2BF0}"/>
              </a:ext>
            </a:extLst>
          </p:cNvPr>
          <p:cNvSpPr/>
          <p:nvPr/>
        </p:nvSpPr>
        <p:spPr>
          <a:xfrm>
            <a:off x="10568382" y="2571180"/>
            <a:ext cx="581583" cy="206309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  <p:sp>
        <p:nvSpPr>
          <p:cNvPr id="37" name="正方形/長方形 24">
            <a:extLst>
              <a:ext uri="{FF2B5EF4-FFF2-40B4-BE49-F238E27FC236}">
                <a16:creationId xmlns:a16="http://schemas.microsoft.com/office/drawing/2014/main" id="{C1F3C86C-9C24-1889-4DEA-CD2EDA6E27A3}"/>
              </a:ext>
            </a:extLst>
          </p:cNvPr>
          <p:cNvSpPr/>
          <p:nvPr/>
        </p:nvSpPr>
        <p:spPr>
          <a:xfrm flipV="1">
            <a:off x="3840480" y="1700631"/>
            <a:ext cx="909197" cy="290221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39" name="正方形/長方形 24">
            <a:extLst>
              <a:ext uri="{FF2B5EF4-FFF2-40B4-BE49-F238E27FC236}">
                <a16:creationId xmlns:a16="http://schemas.microsoft.com/office/drawing/2014/main" id="{FE788008-41A5-F34B-808A-EACB7001214E}"/>
              </a:ext>
            </a:extLst>
          </p:cNvPr>
          <p:cNvSpPr/>
          <p:nvPr/>
        </p:nvSpPr>
        <p:spPr>
          <a:xfrm flipV="1">
            <a:off x="1921563" y="3742702"/>
            <a:ext cx="600487" cy="23005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0" name="正方形/長方形 24">
            <a:extLst>
              <a:ext uri="{FF2B5EF4-FFF2-40B4-BE49-F238E27FC236}">
                <a16:creationId xmlns:a16="http://schemas.microsoft.com/office/drawing/2014/main" id="{5C532368-BEB5-0566-8F6A-E55619F25E00}"/>
              </a:ext>
            </a:extLst>
          </p:cNvPr>
          <p:cNvSpPr/>
          <p:nvPr/>
        </p:nvSpPr>
        <p:spPr>
          <a:xfrm flipV="1">
            <a:off x="1694737" y="2440372"/>
            <a:ext cx="742942" cy="528006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F325E9-C109-7799-D79D-1D24E18EF0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71" y="1321939"/>
            <a:ext cx="5979034" cy="1564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C11A28-1E9A-EB41-3773-DA7F3B6201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1517" y="1628798"/>
            <a:ext cx="5578323" cy="1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C271-F606-64D1-7B79-4171D79C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A9E965-E199-9D46-9234-14963155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C4893-DEB2-FCE9-DD35-E0C3F5AB8021}"/>
              </a:ext>
            </a:extLst>
          </p:cNvPr>
          <p:cNvSpPr txBox="1"/>
          <p:nvPr/>
        </p:nvSpPr>
        <p:spPr>
          <a:xfrm>
            <a:off x="840756" y="204940"/>
            <a:ext cx="108497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Formal </a:t>
            </a:r>
            <a:r>
              <a:rPr lang="en-US" sz="8000" u="sng" dirty="0">
                <a:solidFill>
                  <a:srgbClr val="D8BEB2"/>
                </a:solidFill>
                <a:latin typeface="Georgia" panose="02040502050405020303" pitchFamily="18" charset="0"/>
              </a:rPr>
              <a:t>KPSS</a:t>
            </a:r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 Hypothesis Testing</a:t>
            </a:r>
            <a:endParaRPr lang="en-US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514A1-9FCE-0B89-2AC0-92ACECABDA86}"/>
              </a:ext>
            </a:extLst>
          </p:cNvPr>
          <p:cNvSpPr txBox="1"/>
          <p:nvPr/>
        </p:nvSpPr>
        <p:spPr>
          <a:xfrm>
            <a:off x="120493" y="3335064"/>
            <a:ext cx="122903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>
                <a:latin typeface="Georgia" panose="02040502050405020303" pitchFamily="18" charset="0"/>
              </a:rPr>
              <a:t>KPSS asks, “is the series stationary?”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1041481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83FA-91ED-70F0-69C7-1CC941D7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C71B67-A879-F3A1-EBA7-BEBB5FDF36F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8545" y="2092297"/>
            <a:ext cx="5633165" cy="283491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45465E-375E-11A0-5814-2BED0037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1</a:t>
            </a:r>
            <a:r>
              <a:rPr lang="en-US" sz="2800" baseline="30000" dirty="0">
                <a:solidFill>
                  <a:schemeClr val="tx1"/>
                </a:solidFill>
                <a:latin typeface="Georgia" panose="02040502050405020303" pitchFamily="18" charset="0"/>
              </a:rPr>
              <a:t>st</a:t>
            </a:r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 ▲</a:t>
            </a:r>
            <a:r>
              <a:rPr lang="en-US" sz="2500" dirty="0"/>
              <a:t> – KPSS TEST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3357CAE-02EF-E719-40C4-980F077C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E124CB6-31C9-91C1-7284-6DC6D8549355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E124CB6-31C9-91C1-7284-6DC6D85493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正方形/長方形 24">
            <a:extLst>
              <a:ext uri="{FF2B5EF4-FFF2-40B4-BE49-F238E27FC236}">
                <a16:creationId xmlns:a16="http://schemas.microsoft.com/office/drawing/2014/main" id="{F3872189-76D2-F331-535C-FD72B13D378E}"/>
              </a:ext>
            </a:extLst>
          </p:cNvPr>
          <p:cNvSpPr/>
          <p:nvPr/>
        </p:nvSpPr>
        <p:spPr>
          <a:xfrm flipV="1">
            <a:off x="3807460" y="3491871"/>
            <a:ext cx="781148" cy="301816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4" name="正方形/長方形 24">
            <a:extLst>
              <a:ext uri="{FF2B5EF4-FFF2-40B4-BE49-F238E27FC236}">
                <a16:creationId xmlns:a16="http://schemas.microsoft.com/office/drawing/2014/main" id="{46AA8FD8-3101-3BCC-1F5A-1CFD65D40A98}"/>
              </a:ext>
            </a:extLst>
          </p:cNvPr>
          <p:cNvSpPr/>
          <p:nvPr/>
        </p:nvSpPr>
        <p:spPr>
          <a:xfrm flipV="1">
            <a:off x="3149725" y="4285485"/>
            <a:ext cx="657735" cy="566930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698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1073-4D62-BEB0-6932-70DCC429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EC64D9-08FE-6319-101C-D0E197E4E1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8545" y="2092297"/>
            <a:ext cx="5633165" cy="283491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BF18E1-7615-6F59-8207-42DDBCE8C033}"/>
                  </a:ext>
                </a:extLst>
              </p:cNvPr>
              <p:cNvSpPr txBox="1"/>
              <p:nvPr/>
            </p:nvSpPr>
            <p:spPr>
              <a:xfrm>
                <a:off x="6061710" y="2623265"/>
                <a:ext cx="6207760" cy="608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𝑡𝑎𝑢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𝐾𝑃𝑆𝑆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𝑣𝑠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𝑡𝑎𝑢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𝑐𝑟𝑖𝑡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𝑟𝑒𝑔𝑖𝑜𝑛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.13&lt;0.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𝑓𝑎𝑖𝑙𝑒𝑑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𝑟𝑒𝑗𝑒𝑐𝑡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BF18E1-7615-6F59-8207-42DDBCE8C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710" y="2623265"/>
                <a:ext cx="6207760" cy="608500"/>
              </a:xfrm>
              <a:prstGeom prst="rect">
                <a:avLst/>
              </a:prstGeom>
              <a:blipFill>
                <a:blip r:embed="rId3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E33B958-DDF5-F5B9-676F-BA9F394E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1</a:t>
            </a:r>
            <a:r>
              <a:rPr lang="en-US" sz="2800" baseline="30000" dirty="0">
                <a:solidFill>
                  <a:schemeClr val="tx1"/>
                </a:solidFill>
                <a:latin typeface="Georgia" panose="02040502050405020303" pitchFamily="18" charset="0"/>
              </a:rPr>
              <a:t>st</a:t>
            </a:r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 ▲</a:t>
            </a:r>
            <a:r>
              <a:rPr lang="en-US" sz="2500" dirty="0"/>
              <a:t> – KPSS TEST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B3F07EA-F95B-6B85-D504-B7314E8D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A90C725-8376-144D-CA3A-31B6AB18E6F8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A90C725-8376-144D-CA3A-31B6AB18E6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2D0F4F72-2FAC-DB92-640E-61237AF87086}"/>
              </a:ext>
            </a:extLst>
          </p:cNvPr>
          <p:cNvSpPr/>
          <p:nvPr/>
        </p:nvSpPr>
        <p:spPr>
          <a:xfrm flipV="1">
            <a:off x="8402986" y="2963669"/>
            <a:ext cx="423863" cy="23005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8" name="正方形/長方形 24">
            <a:extLst>
              <a:ext uri="{FF2B5EF4-FFF2-40B4-BE49-F238E27FC236}">
                <a16:creationId xmlns:a16="http://schemas.microsoft.com/office/drawing/2014/main" id="{89EA4A8A-E7EE-F449-3AF2-62DB1193A5F7}"/>
              </a:ext>
            </a:extLst>
          </p:cNvPr>
          <p:cNvSpPr/>
          <p:nvPr/>
        </p:nvSpPr>
        <p:spPr>
          <a:xfrm flipV="1">
            <a:off x="7763413" y="2963669"/>
            <a:ext cx="423863" cy="211007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1" name="正方形/長方形 24">
            <a:extLst>
              <a:ext uri="{FF2B5EF4-FFF2-40B4-BE49-F238E27FC236}">
                <a16:creationId xmlns:a16="http://schemas.microsoft.com/office/drawing/2014/main" id="{711B0BD5-E199-7C74-F93F-91E217B2CE1B}"/>
              </a:ext>
            </a:extLst>
          </p:cNvPr>
          <p:cNvSpPr/>
          <p:nvPr/>
        </p:nvSpPr>
        <p:spPr>
          <a:xfrm flipV="1">
            <a:off x="3807460" y="3491871"/>
            <a:ext cx="781148" cy="301816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4" name="正方形/長方形 24">
            <a:extLst>
              <a:ext uri="{FF2B5EF4-FFF2-40B4-BE49-F238E27FC236}">
                <a16:creationId xmlns:a16="http://schemas.microsoft.com/office/drawing/2014/main" id="{8577A166-593B-F5C7-16C8-4A1419226850}"/>
              </a:ext>
            </a:extLst>
          </p:cNvPr>
          <p:cNvSpPr/>
          <p:nvPr/>
        </p:nvSpPr>
        <p:spPr>
          <a:xfrm flipV="1">
            <a:off x="3149725" y="4285485"/>
            <a:ext cx="657735" cy="566930"/>
          </a:xfrm>
          <a:prstGeom prst="rect">
            <a:avLst/>
          </a:prstGeom>
          <a:solidFill>
            <a:srgbClr val="FFC000">
              <a:alpha val="5000"/>
            </a:srgbClr>
          </a:solidFill>
          <a:ln w="360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3090F2-528C-2D39-905F-9C72B3519422}"/>
              </a:ext>
            </a:extLst>
          </p:cNvPr>
          <p:cNvSpPr txBox="1"/>
          <p:nvPr/>
        </p:nvSpPr>
        <p:spPr>
          <a:xfrm>
            <a:off x="7018528" y="3491871"/>
            <a:ext cx="47449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Didn’t reject “1</a:t>
            </a:r>
            <a:r>
              <a:rPr lang="en-US" sz="1600" baseline="30000" dirty="0">
                <a:sym typeface="Wingdings" panose="05000000000000000000" pitchFamily="2" charset="2"/>
              </a:rPr>
              <a:t>st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>
                <a:latin typeface="Georgia" panose="02040502050405020303" pitchFamily="18" charset="0"/>
              </a:rPr>
              <a:t>▲ is stationary”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Highly suggestive series is stationary as ADF test rejected “1</a:t>
            </a:r>
            <a:r>
              <a:rPr lang="en-US" sz="1600" baseline="30000" dirty="0">
                <a:sym typeface="Wingdings" panose="05000000000000000000" pitchFamily="2" charset="2"/>
              </a:rPr>
              <a:t>st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>
                <a:latin typeface="Georgia" panose="02040502050405020303" pitchFamily="18" charset="0"/>
              </a:rPr>
              <a:t>▲</a:t>
            </a:r>
            <a:r>
              <a:rPr lang="en-US" sz="1600" dirty="0">
                <a:sym typeface="Wingdings" panose="05000000000000000000" pitchFamily="2" charset="2"/>
              </a:rPr>
              <a:t> is non-stationary”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A0DEA7-33CB-D451-045A-DF15D135A25A}"/>
              </a:ext>
            </a:extLst>
          </p:cNvPr>
          <p:cNvSpPr txBox="1"/>
          <p:nvPr/>
        </p:nvSpPr>
        <p:spPr>
          <a:xfrm>
            <a:off x="8139884" y="1912122"/>
            <a:ext cx="181483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latin typeface="Georgia" panose="02040502050405020303" pitchFamily="18" charset="0"/>
              </a:rPr>
              <a:t>KPSS test</a:t>
            </a:r>
          </a:p>
        </p:txBody>
      </p:sp>
    </p:spTree>
    <p:extLst>
      <p:ext uri="{BB962C8B-B14F-4D97-AF65-F5344CB8AC3E}">
        <p14:creationId xmlns:p14="http://schemas.microsoft.com/office/powerpoint/2010/main" val="4121511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681C-BC61-3A1E-A2B7-699EDC60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098258-C98E-CE91-B964-04FB7C7B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140CF-8A7F-4874-9DC2-6F917D50FD1E}"/>
              </a:ext>
            </a:extLst>
          </p:cNvPr>
          <p:cNvSpPr txBox="1"/>
          <p:nvPr/>
        </p:nvSpPr>
        <p:spPr>
          <a:xfrm>
            <a:off x="671100" y="735882"/>
            <a:ext cx="108497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Forecast Models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658847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700" y="153837"/>
            <a:ext cx="6724599" cy="486878"/>
          </a:xfrm>
        </p:spPr>
        <p:txBody>
          <a:bodyPr/>
          <a:lstStyle/>
          <a:p>
            <a:pPr algn="ctr"/>
            <a:r>
              <a:rPr lang="en-US" sz="3000" dirty="0"/>
              <a:t>Level - forecast (AR &amp; ARIMA)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0CE83C-5770-2B9E-7F4B-8BE17AE2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83" y="763023"/>
            <a:ext cx="5802784" cy="38107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20F66A-C65C-E758-9A66-32168FCC2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52" y="5313792"/>
            <a:ext cx="4008645" cy="14874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F3258C-24C6-17A7-3E5C-7B526FBE1A2E}"/>
                  </a:ext>
                </a:extLst>
              </p:cNvPr>
              <p:cNvSpPr txBox="1"/>
              <p:nvPr/>
            </p:nvSpPr>
            <p:spPr>
              <a:xfrm>
                <a:off x="934538" y="4482795"/>
                <a:ext cx="4184159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1"/>
                            <m:t>ϕ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US" b="1" i="1"/>
                            <m:t>ϕ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=76.2103+0.6003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0.3832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F3258C-24C6-17A7-3E5C-7B526FBE1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38" y="4482795"/>
                <a:ext cx="4184159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ECF28B3-B191-998C-CBBC-B157C5C221FD}"/>
                  </a:ext>
                </a:extLst>
              </p14:cNvPr>
              <p14:cNvContentPartPr/>
              <p14:nvPr/>
            </p14:nvContentPartPr>
            <p14:xfrm>
              <a:off x="1542192" y="5120328"/>
              <a:ext cx="738000" cy="6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ECF28B3-B191-998C-CBBC-B157C5C221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8192" y="5012328"/>
                <a:ext cx="8456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358A66F-21B2-1B24-2068-F6CBA6056D3A}"/>
                  </a:ext>
                </a:extLst>
              </p14:cNvPr>
              <p14:cNvContentPartPr/>
              <p14:nvPr/>
            </p14:nvContentPartPr>
            <p14:xfrm>
              <a:off x="1432392" y="6223728"/>
              <a:ext cx="542880" cy="64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358A66F-21B2-1B24-2068-F6CBA6056D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78392" y="6116088"/>
                <a:ext cx="6505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594D3C8-8869-2BCD-2C91-335CD17EAAFD}"/>
                  </a:ext>
                </a:extLst>
              </p14:cNvPr>
              <p14:cNvContentPartPr/>
              <p14:nvPr/>
            </p14:nvContentPartPr>
            <p14:xfrm>
              <a:off x="2608872" y="5094048"/>
              <a:ext cx="665280" cy="15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594D3C8-8869-2BCD-2C91-335CD17EAA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55232" y="4986408"/>
                <a:ext cx="7729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68E41BE-0AB6-521C-88B6-741E3B5E99D8}"/>
                  </a:ext>
                </a:extLst>
              </p14:cNvPr>
              <p14:cNvContentPartPr/>
              <p14:nvPr/>
            </p14:nvContentPartPr>
            <p14:xfrm>
              <a:off x="2182272" y="6223728"/>
              <a:ext cx="516240" cy="19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68E41BE-0AB6-521C-88B6-741E3B5E99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28272" y="6115728"/>
                <a:ext cx="62388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7EE54A3-323D-2D0F-062B-58B956A48AF2}"/>
                  </a:ext>
                </a:extLst>
              </p14:cNvPr>
              <p14:cNvContentPartPr/>
              <p14:nvPr/>
            </p14:nvContentPartPr>
            <p14:xfrm>
              <a:off x="4004952" y="5096208"/>
              <a:ext cx="634320" cy="37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7EE54A3-323D-2D0F-062B-58B956A48AF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50952" y="4988208"/>
                <a:ext cx="7419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5FAD6EF-406A-61CD-ABF7-BA82D80B4435}"/>
                  </a:ext>
                </a:extLst>
              </p14:cNvPr>
              <p14:cNvContentPartPr/>
              <p14:nvPr/>
            </p14:nvContentPartPr>
            <p14:xfrm>
              <a:off x="2895432" y="6223728"/>
              <a:ext cx="488160" cy="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5FAD6EF-406A-61CD-ABF7-BA82D80B44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41432" y="6007728"/>
                <a:ext cx="595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4D7CB0B-B4E9-0E2D-C69D-8D0920861703}"/>
                  </a:ext>
                </a:extLst>
              </p14:cNvPr>
              <p14:cNvContentPartPr/>
              <p14:nvPr/>
            </p14:nvContentPartPr>
            <p14:xfrm>
              <a:off x="1761432" y="5541168"/>
              <a:ext cx="426600" cy="57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4D7CB0B-B4E9-0E2D-C69D-8D092086170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07792" y="5433168"/>
                <a:ext cx="534240" cy="2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C492-8D21-1134-7BB0-5099D757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0BF8-D854-47A1-22AF-37BB8A30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700" y="153837"/>
            <a:ext cx="6724599" cy="486878"/>
          </a:xfrm>
        </p:spPr>
        <p:txBody>
          <a:bodyPr/>
          <a:lstStyle/>
          <a:p>
            <a:pPr algn="ctr"/>
            <a:r>
              <a:rPr lang="en-US" sz="3000" dirty="0"/>
              <a:t>Level - forecast (AR &amp; ARIMA)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CFBD777-9C27-4B6F-DF76-6B4381CF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2B7D81-B9E6-A85C-34DE-71DFD0CAE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83" y="763023"/>
            <a:ext cx="5802784" cy="38107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5D8210-3C8B-B965-3C5E-67EA3F4EB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52" y="5313792"/>
            <a:ext cx="4008645" cy="14874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7C03D57-EA80-6191-1996-152A6D7EF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234" y="763023"/>
            <a:ext cx="5852809" cy="381073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F0BDAD-171D-5E79-79B1-8D9440357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786" y="5313792"/>
            <a:ext cx="3903703" cy="14874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5AEA69-0233-062B-910D-0D94998810B8}"/>
                  </a:ext>
                </a:extLst>
              </p:cNvPr>
              <p:cNvSpPr txBox="1"/>
              <p:nvPr/>
            </p:nvSpPr>
            <p:spPr>
              <a:xfrm>
                <a:off x="934538" y="4482795"/>
                <a:ext cx="4184159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1"/>
                            <m:t>ϕ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US" b="1" i="1"/>
                            <m:t>ϕ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=76.2103+0.6003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0.3832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5AEA69-0233-062B-910D-0D9499881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38" y="4482795"/>
                <a:ext cx="4184159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336041-5E7C-B4D7-7FA7-F1063DC551D4}"/>
                  </a:ext>
                </a:extLst>
              </p:cNvPr>
              <p:cNvSpPr txBox="1"/>
              <p:nvPr/>
            </p:nvSpPr>
            <p:spPr>
              <a:xfrm>
                <a:off x="6091084" y="4436628"/>
                <a:ext cx="610091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1" i="1" smtClean="0"/>
                        <m:t>Δ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1"/>
                            <m:t>ϕ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/>
                            <m:t>Δ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/>
                        <m:t>Δ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=43.4268−</m:t>
                      </m:r>
                      <m:r>
                        <m:rPr>
                          <m:nor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0.3792</m:t>
                      </m:r>
                      <m:r>
                        <m:rPr>
                          <m:nor/>
                        </m:rPr>
                        <a:rPr lang="en-US" i="0"/>
                        <m:t>Δ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336041-5E7C-B4D7-7FA7-F1063DC55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084" y="4436628"/>
                <a:ext cx="6100916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22CAFDA-7FD6-0383-EA54-C5FC41FA13B2}"/>
                  </a:ext>
                </a:extLst>
              </p14:cNvPr>
              <p14:cNvContentPartPr/>
              <p14:nvPr/>
            </p14:nvContentPartPr>
            <p14:xfrm>
              <a:off x="1542192" y="5120328"/>
              <a:ext cx="738000" cy="6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22CAFDA-7FD6-0383-EA54-C5FC41FA13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88192" y="5012328"/>
                <a:ext cx="8456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7925AC8-229C-4ED4-BE71-30329DA9F156}"/>
                  </a:ext>
                </a:extLst>
              </p14:cNvPr>
              <p14:cNvContentPartPr/>
              <p14:nvPr/>
            </p14:nvContentPartPr>
            <p14:xfrm>
              <a:off x="1432392" y="6223728"/>
              <a:ext cx="542880" cy="64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7925AC8-229C-4ED4-BE71-30329DA9F15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78392" y="6115728"/>
                <a:ext cx="6505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FA64CF8-034C-C9F3-5BAD-5662284F6E09}"/>
                  </a:ext>
                </a:extLst>
              </p14:cNvPr>
              <p14:cNvContentPartPr/>
              <p14:nvPr/>
            </p14:nvContentPartPr>
            <p14:xfrm>
              <a:off x="2608872" y="5094048"/>
              <a:ext cx="665280" cy="15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FA64CF8-034C-C9F3-5BAD-5662284F6E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54872" y="4986048"/>
                <a:ext cx="7729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5D69147-B390-0E0A-1D09-30AB7E238E2A}"/>
                  </a:ext>
                </a:extLst>
              </p14:cNvPr>
              <p14:cNvContentPartPr/>
              <p14:nvPr/>
            </p14:nvContentPartPr>
            <p14:xfrm>
              <a:off x="2182272" y="6223728"/>
              <a:ext cx="516240" cy="19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5D69147-B390-0E0A-1D09-30AB7E238E2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28310" y="6115728"/>
                <a:ext cx="623805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BB6779A-DCCB-9248-6D7D-3398B378525D}"/>
                  </a:ext>
                </a:extLst>
              </p14:cNvPr>
              <p14:cNvContentPartPr/>
              <p14:nvPr/>
            </p14:nvContentPartPr>
            <p14:xfrm>
              <a:off x="4004952" y="5096208"/>
              <a:ext cx="634320" cy="37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BB6779A-DCCB-9248-6D7D-3398B378525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50983" y="4988208"/>
                <a:ext cx="741899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EE1C0EE-1424-12EB-F8B5-94E63C37A8A6}"/>
                  </a:ext>
                </a:extLst>
              </p14:cNvPr>
              <p14:cNvContentPartPr/>
              <p14:nvPr/>
            </p14:nvContentPartPr>
            <p14:xfrm>
              <a:off x="2895432" y="6223728"/>
              <a:ext cx="488160" cy="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EE1C0EE-1424-12EB-F8B5-94E63C37A8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41432" y="6007728"/>
                <a:ext cx="595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417CB04-D274-3218-ACD0-EBB0A806F68E}"/>
                  </a:ext>
                </a:extLst>
              </p14:cNvPr>
              <p14:cNvContentPartPr/>
              <p14:nvPr/>
            </p14:nvContentPartPr>
            <p14:xfrm>
              <a:off x="1761432" y="5541168"/>
              <a:ext cx="426600" cy="57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417CB04-D274-3218-ACD0-EBB0A806F68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07432" y="5439521"/>
                <a:ext cx="534240" cy="2087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8A3E3E9-CD2C-D71D-2BDB-06102A9B865F}"/>
                  </a:ext>
                </a:extLst>
              </p14:cNvPr>
              <p14:cNvContentPartPr/>
              <p14:nvPr/>
            </p14:nvContentPartPr>
            <p14:xfrm>
              <a:off x="8351280" y="5108448"/>
              <a:ext cx="757800" cy="374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8A3E3E9-CD2C-D71D-2BDB-06102A9B865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97280" y="5000448"/>
                <a:ext cx="8654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36DB8AB-4175-9BB5-FCC6-8C104B75EF8A}"/>
                  </a:ext>
                </a:extLst>
              </p14:cNvPr>
              <p14:cNvContentPartPr/>
              <p14:nvPr/>
            </p14:nvContentPartPr>
            <p14:xfrm>
              <a:off x="9454680" y="5108088"/>
              <a:ext cx="597240" cy="30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36DB8AB-4175-9BB5-FCC6-8C104B75EF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00680" y="5000088"/>
                <a:ext cx="7048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AFC688C-47D9-628D-C02A-1B0359347A0A}"/>
                  </a:ext>
                </a:extLst>
              </p14:cNvPr>
              <p14:cNvContentPartPr/>
              <p14:nvPr/>
            </p14:nvContentPartPr>
            <p14:xfrm>
              <a:off x="8381880" y="6102048"/>
              <a:ext cx="548640" cy="30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AFC688C-47D9-628D-C02A-1B0359347A0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27880" y="5994048"/>
                <a:ext cx="6562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2C2C205-6ED7-E31B-2FDA-399CA5190548}"/>
                  </a:ext>
                </a:extLst>
              </p14:cNvPr>
              <p14:cNvContentPartPr/>
              <p14:nvPr/>
            </p14:nvContentPartPr>
            <p14:xfrm>
              <a:off x="7638120" y="6126168"/>
              <a:ext cx="500040" cy="19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2C2C205-6ED7-E31B-2FDA-399CA519054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84159" y="6018168"/>
                <a:ext cx="607603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1D3180C-1CBB-7B44-6BBE-2EEE86D5B053}"/>
                  </a:ext>
                </a:extLst>
              </p14:cNvPr>
              <p14:cNvContentPartPr/>
              <p14:nvPr/>
            </p14:nvContentPartPr>
            <p14:xfrm>
              <a:off x="7705080" y="5522808"/>
              <a:ext cx="914400" cy="37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1D3180C-1CBB-7B44-6BBE-2EEE86D5B0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51059" y="5414808"/>
                <a:ext cx="1022082" cy="25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784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7E98-C39C-1535-402A-E4B9DD91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C6B7-FF57-1F05-2913-CF9FBF6F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005" y="248157"/>
            <a:ext cx="10686730" cy="785115"/>
          </a:xfrm>
        </p:spPr>
        <p:txBody>
          <a:bodyPr/>
          <a:lstStyle/>
          <a:p>
            <a:pPr algn="ctr"/>
            <a:r>
              <a:rPr lang="en-US" sz="3000" dirty="0"/>
              <a:t>1</a:t>
            </a:r>
            <a:r>
              <a:rPr lang="en-US" sz="3000" baseline="30000" dirty="0"/>
              <a:t>ST</a:t>
            </a:r>
            <a:r>
              <a:rPr lang="en-US" sz="3000" dirty="0"/>
              <a:t> DIFFERENCE - forecast (AR &amp; ARIMA)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50F3BB0-69F3-51AE-E9DE-BDA127874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080EDAA-4088-98DF-FF2C-4EDCAB6E1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4" y="909340"/>
            <a:ext cx="5835937" cy="35852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DC3C25-961C-DBB3-41C4-B7073626F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371" y="5319733"/>
            <a:ext cx="3822761" cy="14766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10FBFB-A900-D7A9-788E-2AE76B430D46}"/>
                  </a:ext>
                </a:extLst>
              </p:cNvPr>
              <p:cNvSpPr txBox="1"/>
              <p:nvPr/>
            </p:nvSpPr>
            <p:spPr>
              <a:xfrm>
                <a:off x="69294" y="4407481"/>
                <a:ext cx="615007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1" i="1" smtClean="0"/>
                        <m:t>Δ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1" i="1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b="1" i="1"/>
                            <m:t>ϕ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b="1" i="1"/>
                            <m:t>Δ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b="1" i="1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8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/>
                        <m:t>Δ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43.9473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−0.3865</m:t>
                      </m:r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/>
                            <m:t>Δ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43.9473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10FBFB-A900-D7A9-788E-2AE76B430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4" y="4407481"/>
                <a:ext cx="615007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1312FD-2A4D-1F41-958B-9DD47460AFD9}"/>
                  </a:ext>
                </a:extLst>
              </p14:cNvPr>
              <p14:cNvContentPartPr/>
              <p14:nvPr/>
            </p14:nvContentPartPr>
            <p14:xfrm>
              <a:off x="1640520" y="5043760"/>
              <a:ext cx="723960" cy="72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1312FD-2A4D-1F41-958B-9DD47460AF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6880" y="4935760"/>
                <a:ext cx="8316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4E82C3-7973-8357-E6AD-31CFE6256BF3}"/>
                  </a:ext>
                </a:extLst>
              </p14:cNvPr>
              <p14:cNvContentPartPr/>
              <p14:nvPr/>
            </p14:nvContentPartPr>
            <p14:xfrm>
              <a:off x="1554480" y="6192520"/>
              <a:ext cx="604440" cy="41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4E82C3-7973-8357-E6AD-31CFE6256B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00480" y="6084880"/>
                <a:ext cx="7120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3C49492-D908-321F-4AAD-AAF38F4FEAE6}"/>
                  </a:ext>
                </a:extLst>
              </p14:cNvPr>
              <p14:cNvContentPartPr/>
              <p14:nvPr/>
            </p14:nvContentPartPr>
            <p14:xfrm>
              <a:off x="2737800" y="5067880"/>
              <a:ext cx="802440" cy="47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3C49492-D908-321F-4AAD-AAF38F4FEAE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84160" y="4960240"/>
                <a:ext cx="9100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0A526FD-2077-EE3D-7835-7B38DC7BC8F6}"/>
                  </a:ext>
                </a:extLst>
              </p14:cNvPr>
              <p14:cNvContentPartPr/>
              <p14:nvPr/>
            </p14:nvContentPartPr>
            <p14:xfrm>
              <a:off x="2336760" y="6187120"/>
              <a:ext cx="549000" cy="46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0A526FD-2077-EE3D-7835-7B38DC7BC8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82760" y="6079480"/>
                <a:ext cx="6566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D5C4B07-1C89-B2AA-9DBF-CF55D8575551}"/>
                  </a:ext>
                </a:extLst>
              </p14:cNvPr>
              <p14:cNvContentPartPr/>
              <p14:nvPr/>
            </p14:nvContentPartPr>
            <p14:xfrm>
              <a:off x="4485600" y="5084440"/>
              <a:ext cx="741600" cy="73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D5C4B07-1C89-B2AA-9DBF-CF55D857555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31600" y="4976440"/>
                <a:ext cx="849240" cy="2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4852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FD28E-A541-8DDE-7929-EB0EA9E8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05304-EA56-B69D-9612-22AB24EB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005" y="248157"/>
            <a:ext cx="10686730" cy="785115"/>
          </a:xfrm>
        </p:spPr>
        <p:txBody>
          <a:bodyPr/>
          <a:lstStyle/>
          <a:p>
            <a:pPr algn="ctr"/>
            <a:r>
              <a:rPr lang="en-US" sz="3000" dirty="0"/>
              <a:t>1</a:t>
            </a:r>
            <a:r>
              <a:rPr lang="en-US" sz="3000" baseline="30000" dirty="0"/>
              <a:t>ST</a:t>
            </a:r>
            <a:r>
              <a:rPr lang="en-US" sz="3000" dirty="0"/>
              <a:t> DIFFERENCE - forecast (AR &amp; ARIMA)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9284E1B-0EC9-8495-F80E-C6554B56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401A0-D15D-A091-3A34-E5036EEC9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708" y="909340"/>
            <a:ext cx="5901827" cy="35852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DC487F-C86F-E4B3-EFD6-262D07210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870" y="5330811"/>
            <a:ext cx="4100008" cy="14766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D201A9-09EA-2769-7A46-D84CDF30B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" y="909340"/>
            <a:ext cx="5835937" cy="35852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262DF9-4721-9A53-3E92-5B100E939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371" y="5319733"/>
            <a:ext cx="3822761" cy="14766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8FAF16-100E-A549-BD4D-23A09668F6A8}"/>
                  </a:ext>
                </a:extLst>
              </p:cNvPr>
              <p:cNvSpPr txBox="1"/>
              <p:nvPr/>
            </p:nvSpPr>
            <p:spPr>
              <a:xfrm>
                <a:off x="69294" y="4407481"/>
                <a:ext cx="615007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1" i="1" smtClean="0"/>
                        <m:t>Δ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1" i="1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b="1" i="1"/>
                            <m:t>ϕ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b="1" i="1"/>
                            <m:t>Δ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b="1" i="1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8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/>
                        <m:t>Δ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43.9473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−0.3865</m:t>
                      </m:r>
                      <m:sSub>
                        <m:sSub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0"/>
                            <m:t>Δ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43.9473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8FAF16-100E-A549-BD4D-23A09668F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4" y="4407481"/>
                <a:ext cx="615007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CE2A6A-933B-B8BC-4EF7-50D3012FBCD8}"/>
                  </a:ext>
                </a:extLst>
              </p:cNvPr>
              <p:cNvSpPr txBox="1"/>
              <p:nvPr/>
            </p:nvSpPr>
            <p:spPr>
              <a:xfrm>
                <a:off x="6066163" y="4445496"/>
                <a:ext cx="610091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1" i="0" smtClean="0"/>
                        <m:t>Δ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0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0"/>
                            <m:t>ϕ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0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 i="0"/>
                            <m:t>Δ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/>
                        <m:t>Δ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=43.4268−</m:t>
                      </m:r>
                      <m:r>
                        <m:rPr>
                          <m:nor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0.3792</m:t>
                      </m:r>
                      <m:r>
                        <m:rPr>
                          <m:nor/>
                        </m:rPr>
                        <a:rPr lang="en-US" i="0"/>
                        <m:t>Δ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CE2A6A-933B-B8BC-4EF7-50D3012FB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163" y="4445496"/>
                <a:ext cx="6100916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CB5A1FE-D28F-F5FB-A81E-76F35E6E4D4E}"/>
                  </a:ext>
                </a:extLst>
              </p14:cNvPr>
              <p14:cNvContentPartPr/>
              <p14:nvPr/>
            </p14:nvContentPartPr>
            <p14:xfrm>
              <a:off x="1640520" y="5043760"/>
              <a:ext cx="723960" cy="72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CB5A1FE-D28F-F5FB-A81E-76F35E6E4D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86520" y="4935760"/>
                <a:ext cx="8316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3CBD41E-B2CF-7762-D10A-3B9AFD09A145}"/>
                  </a:ext>
                </a:extLst>
              </p14:cNvPr>
              <p14:cNvContentPartPr/>
              <p14:nvPr/>
            </p14:nvContentPartPr>
            <p14:xfrm>
              <a:off x="1554480" y="6192520"/>
              <a:ext cx="604440" cy="41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3CBD41E-B2CF-7762-D10A-3B9AFD09A1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0480" y="6084520"/>
                <a:ext cx="7120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7057C3D-D293-9444-D234-F4E8270BB0D7}"/>
                  </a:ext>
                </a:extLst>
              </p14:cNvPr>
              <p14:cNvContentPartPr/>
              <p14:nvPr/>
            </p14:nvContentPartPr>
            <p14:xfrm>
              <a:off x="2737800" y="5067880"/>
              <a:ext cx="802440" cy="47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7057C3D-D293-9444-D234-F4E8270BB0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83800" y="4959880"/>
                <a:ext cx="9100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FB8B38F-95B4-7C1E-BE02-08BE52819BF8}"/>
                  </a:ext>
                </a:extLst>
              </p14:cNvPr>
              <p14:cNvContentPartPr/>
              <p14:nvPr/>
            </p14:nvContentPartPr>
            <p14:xfrm>
              <a:off x="2336760" y="6187120"/>
              <a:ext cx="549000" cy="46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FB8B38F-95B4-7C1E-BE02-08BE52819B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82760" y="6079120"/>
                <a:ext cx="6566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8958C75-FB53-5C55-3AC0-CC99F6C1F4EA}"/>
                  </a:ext>
                </a:extLst>
              </p14:cNvPr>
              <p14:cNvContentPartPr/>
              <p14:nvPr/>
            </p14:nvContentPartPr>
            <p14:xfrm>
              <a:off x="4485600" y="5084440"/>
              <a:ext cx="741600" cy="73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8958C75-FB53-5C55-3AC0-CC99F6C1F4E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31600" y="4976440"/>
                <a:ext cx="8492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299F7A-4691-7730-EF24-B12ECBA40F2C}"/>
                  </a:ext>
                </a:extLst>
              </p14:cNvPr>
              <p14:cNvContentPartPr/>
              <p14:nvPr/>
            </p14:nvContentPartPr>
            <p14:xfrm>
              <a:off x="8341240" y="5115400"/>
              <a:ext cx="751680" cy="70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6299F7A-4691-7730-EF24-B12ECBA40F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87240" y="5007400"/>
                <a:ext cx="8593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BE0F572-173F-1306-6361-DC03A0ED250A}"/>
                  </a:ext>
                </a:extLst>
              </p14:cNvPr>
              <p14:cNvContentPartPr/>
              <p14:nvPr/>
            </p14:nvContentPartPr>
            <p14:xfrm>
              <a:off x="9392800" y="5104960"/>
              <a:ext cx="630000" cy="51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BE0F572-173F-1306-6361-DC03A0ED25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38831" y="4996960"/>
                <a:ext cx="737579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3547B2-EFD5-D2DB-2B52-977888D2C8D1}"/>
                  </a:ext>
                </a:extLst>
              </p14:cNvPr>
              <p14:cNvContentPartPr/>
              <p14:nvPr/>
            </p14:nvContentPartPr>
            <p14:xfrm>
              <a:off x="8346280" y="6111160"/>
              <a:ext cx="532080" cy="27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3547B2-EFD5-D2DB-2B52-977888D2C8D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92317" y="6001739"/>
                <a:ext cx="639647" cy="2461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9B3E299-283C-92C5-8E24-98A71B4A57AB}"/>
                  </a:ext>
                </a:extLst>
              </p14:cNvPr>
              <p14:cNvContentPartPr/>
              <p14:nvPr/>
            </p14:nvContentPartPr>
            <p14:xfrm>
              <a:off x="7609720" y="6132040"/>
              <a:ext cx="513360" cy="30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9B3E299-283C-92C5-8E24-98A71B4A57A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55720" y="6024040"/>
                <a:ext cx="621000" cy="2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4082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2CBB-073B-957B-B090-3AFF4C91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A0B99-AB93-B44B-1F7C-32C3423C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4BF80-8C31-D738-F8CC-1114C19E3641}"/>
              </a:ext>
            </a:extLst>
          </p:cNvPr>
          <p:cNvSpPr txBox="1"/>
          <p:nvPr/>
        </p:nvSpPr>
        <p:spPr>
          <a:xfrm>
            <a:off x="671100" y="438912"/>
            <a:ext cx="108497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Other interesting Findings</a:t>
            </a:r>
            <a:endParaRPr lang="en-US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B8F89B-37E2-7DE8-F21D-7C7B9D4B519C}"/>
              </a:ext>
            </a:extLst>
          </p:cNvPr>
          <p:cNvSpPr txBox="1"/>
          <p:nvPr/>
        </p:nvSpPr>
        <p:spPr>
          <a:xfrm>
            <a:off x="1644052" y="3426542"/>
            <a:ext cx="8478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Explored median vs mean </a:t>
            </a:r>
            <a:r>
              <a:rPr lang="en-US" dirty="0"/>
              <a:t>- no ABS time series exists</a:t>
            </a:r>
          </a:p>
        </p:txBody>
      </p:sp>
    </p:spTree>
    <p:extLst>
      <p:ext uri="{BB962C8B-B14F-4D97-AF65-F5344CB8AC3E}">
        <p14:creationId xmlns:p14="http://schemas.microsoft.com/office/powerpoint/2010/main" val="1536528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8B930-3552-4DE1-5C2F-0E511492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70E359-F9D3-2942-F54A-31366131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64DC6-6C7B-5F88-FC3F-777F8D60CCC5}"/>
              </a:ext>
            </a:extLst>
          </p:cNvPr>
          <p:cNvSpPr txBox="1"/>
          <p:nvPr/>
        </p:nvSpPr>
        <p:spPr>
          <a:xfrm>
            <a:off x="671100" y="735882"/>
            <a:ext cx="108497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D8BEB2"/>
                </a:solidFill>
                <a:latin typeface="Georgia" panose="02040502050405020303" pitchFamily="18" charset="0"/>
              </a:rPr>
              <a:t>Conclusion</a:t>
            </a:r>
            <a:endParaRPr lang="en-US" sz="8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BC91E-C62B-4001-1301-8D5E54010696}"/>
              </a:ext>
            </a:extLst>
          </p:cNvPr>
          <p:cNvSpPr txBox="1"/>
          <p:nvPr/>
        </p:nvSpPr>
        <p:spPr>
          <a:xfrm>
            <a:off x="1602656" y="3295679"/>
            <a:ext cx="8986685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Level series: </a:t>
            </a:r>
            <a:r>
              <a:rPr lang="en-US" dirty="0"/>
              <a:t>non-stationary, random walk w/ drift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First difference: </a:t>
            </a:r>
            <a:r>
              <a:rPr lang="en-US" dirty="0"/>
              <a:t>stationary (ADF, KPSS, Box-Ljung all agree)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AR on raw level </a:t>
            </a:r>
            <a:r>
              <a:rPr lang="en-US" dirty="0"/>
              <a:t>was mis-specified - ARIMA(1,1,0) w/ drift corrected this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AR &amp; ARIMA converge</a:t>
            </a:r>
            <a:r>
              <a:rPr lang="en-US" dirty="0"/>
              <a:t> on differenced series → AR(1) sufficient, no MA needed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Forecasts reflect this: level trends w/ widening bands, difference reverts to mean</a:t>
            </a:r>
          </a:p>
        </p:txBody>
      </p:sp>
    </p:spTree>
    <p:extLst>
      <p:ext uri="{BB962C8B-B14F-4D97-AF65-F5344CB8AC3E}">
        <p14:creationId xmlns:p14="http://schemas.microsoft.com/office/powerpoint/2010/main" val="607430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47C1-128E-60DF-5281-30C3EFCAB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6059424" cy="2057400"/>
          </a:xfrm>
        </p:spPr>
        <p:txBody>
          <a:bodyPr/>
          <a:lstStyle/>
          <a:p>
            <a:r>
              <a:rPr lang="en-US" dirty="0"/>
              <a:t>Ali Alkhatib</a:t>
            </a:r>
          </a:p>
          <a:p>
            <a:pPr lvl="1"/>
            <a:r>
              <a:rPr lang="en-US" dirty="0"/>
              <a:t>34395873 </a:t>
            </a:r>
          </a:p>
          <a:p>
            <a:pPr lvl="1"/>
            <a:r>
              <a:rPr lang="en-US" dirty="0"/>
              <a:t>aalk0011@student.monash.edu</a:t>
            </a:r>
          </a:p>
          <a:p>
            <a:pPr lvl="1"/>
            <a:r>
              <a:rPr lang="en-US" dirty="0"/>
              <a:t>Applied Timeseries Econometrics/Forecasting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2C0D-7BD6-E2E2-0278-D6B8685F3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1D0A-B6BB-8769-555A-97AE3EE6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86" y="151251"/>
            <a:ext cx="10766028" cy="420926"/>
          </a:xfrm>
        </p:spPr>
        <p:txBody>
          <a:bodyPr/>
          <a:lstStyle/>
          <a:p>
            <a:r>
              <a:rPr lang="en-US" sz="2800" dirty="0"/>
              <a:t>1</a:t>
            </a:r>
            <a:r>
              <a:rPr lang="en-US" sz="2800" baseline="30000" dirty="0"/>
              <a:t>st</a:t>
            </a:r>
            <a:r>
              <a:rPr lang="en-US" sz="2800" dirty="0"/>
              <a:t> Difference</a:t>
            </a:r>
            <a:r>
              <a:rPr lang="en-US" sz="2500" dirty="0"/>
              <a:t> – KPSS TEST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9A19027-906F-7977-17B7-6A614EE7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9E67180-8EEF-FEBB-5F15-89C779AEB2D7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9E67180-8EEF-FEBB-5F15-89C779AEB2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011038AC-896B-8B08-2039-81DE5F2F4074}"/>
              </a:ext>
            </a:extLst>
          </p:cNvPr>
          <p:cNvSpPr txBox="1"/>
          <p:nvPr/>
        </p:nvSpPr>
        <p:spPr>
          <a:xfrm>
            <a:off x="6096000" y="761466"/>
            <a:ext cx="610583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5% Confidence Interval Test – Failed to Reject</a:t>
            </a:r>
          </a:p>
          <a:p>
            <a:r>
              <a:rPr lang="en-US" sz="1600" dirty="0"/>
              <a:t>tau3_KPSS-stat vs tau3_crit(5%):</a:t>
            </a:r>
          </a:p>
          <a:p>
            <a:endParaRPr lang="en-US" sz="1600" dirty="0"/>
          </a:p>
          <a:p>
            <a:r>
              <a:rPr lang="en-US" sz="1600" dirty="0"/>
              <a:t>0.135 &lt; 0.463 </a:t>
            </a:r>
            <a:r>
              <a:rPr lang="en-US" sz="1600" dirty="0">
                <a:sym typeface="Wingdings" panose="05000000000000000000" pitchFamily="2" charset="2"/>
              </a:rPr>
              <a:t> test stat is not more than crit region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dirty="0">
                <a:sym typeface="Wingdings" panose="05000000000000000000" pitchFamily="2" charset="2"/>
              </a:rPr>
              <a:t>Fail to reject Null Hypothesis of “series is stationary”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dirty="0">
                <a:sym typeface="Wingdings" panose="05000000000000000000" pitchFamily="2" charset="2"/>
              </a:rPr>
              <a:t>Agrees with ADF test that indicated series is stationary by rejecting the null hypothesis that the series is “non-stationary”</a:t>
            </a:r>
            <a:endParaRPr lang="en-US" sz="1600" dirty="0"/>
          </a:p>
        </p:txBody>
      </p:sp>
      <p:sp>
        <p:nvSpPr>
          <p:cNvPr id="43" name="正方形/長方形 24">
            <a:extLst>
              <a:ext uri="{FF2B5EF4-FFF2-40B4-BE49-F238E27FC236}">
                <a16:creationId xmlns:a16="http://schemas.microsoft.com/office/drawing/2014/main" id="{88E5943C-AA07-04C7-9FC2-8785CF996727}"/>
              </a:ext>
            </a:extLst>
          </p:cNvPr>
          <p:cNvSpPr/>
          <p:nvPr/>
        </p:nvSpPr>
        <p:spPr>
          <a:xfrm>
            <a:off x="6921664" y="1534614"/>
            <a:ext cx="565785" cy="251460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45" name="正方形/長方形 24">
            <a:extLst>
              <a:ext uri="{FF2B5EF4-FFF2-40B4-BE49-F238E27FC236}">
                <a16:creationId xmlns:a16="http://schemas.microsoft.com/office/drawing/2014/main" id="{BC5D2DAC-F8F8-C5FC-8A35-99AC6F5E3E0A}"/>
              </a:ext>
            </a:extLst>
          </p:cNvPr>
          <p:cNvSpPr/>
          <p:nvPr/>
        </p:nvSpPr>
        <p:spPr>
          <a:xfrm>
            <a:off x="6164580" y="1534614"/>
            <a:ext cx="565785" cy="280566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33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27DAD-B6E7-F749-45A7-E7E2D7C2F12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75852" y="1499099"/>
            <a:ext cx="5633165" cy="283491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1" name="正方形/長方形 24">
            <a:extLst>
              <a:ext uri="{FF2B5EF4-FFF2-40B4-BE49-F238E27FC236}">
                <a16:creationId xmlns:a16="http://schemas.microsoft.com/office/drawing/2014/main" id="{7F720A92-361A-D73C-AC98-AEA9DDF57E99}"/>
              </a:ext>
            </a:extLst>
          </p:cNvPr>
          <p:cNvSpPr/>
          <p:nvPr/>
        </p:nvSpPr>
        <p:spPr>
          <a:xfrm>
            <a:off x="2949677" y="3935757"/>
            <a:ext cx="658762" cy="308637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  <p:sp>
        <p:nvSpPr>
          <p:cNvPr id="8" name="正方形/長方形 24">
            <a:extLst>
              <a:ext uri="{FF2B5EF4-FFF2-40B4-BE49-F238E27FC236}">
                <a16:creationId xmlns:a16="http://schemas.microsoft.com/office/drawing/2014/main" id="{BC1CE944-BE29-12B5-3F77-7C0D3C636491}"/>
              </a:ext>
            </a:extLst>
          </p:cNvPr>
          <p:cNvSpPr/>
          <p:nvPr/>
        </p:nvSpPr>
        <p:spPr>
          <a:xfrm>
            <a:off x="3701598" y="2916555"/>
            <a:ext cx="673756" cy="319748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33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0E4FED-0CF2-D388-9024-630DB2CC3A32}"/>
              </a:ext>
            </a:extLst>
          </p:cNvPr>
          <p:cNvSpPr txBox="1"/>
          <p:nvPr/>
        </p:nvSpPr>
        <p:spPr>
          <a:xfrm>
            <a:off x="6189407" y="3520258"/>
            <a:ext cx="61058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latin typeface="Georgia" panose="02040502050405020303" pitchFamily="18" charset="0"/>
                <a:sym typeface="Wingdings" panose="05000000000000000000" pitchFamily="2" charset="2"/>
              </a:rPr>
              <a:t>Notes on how test is conducted</a:t>
            </a:r>
            <a:endParaRPr lang="en-US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type = 'mu' — tests stationarity around a constant mean (µ). This is due to the 1</a:t>
            </a:r>
            <a:r>
              <a:rPr lang="en-US" sz="1600" baseline="30000" dirty="0">
                <a:sym typeface="Wingdings" panose="05000000000000000000" pitchFamily="2" charset="2"/>
              </a:rPr>
              <a:t>st</a:t>
            </a:r>
            <a:r>
              <a:rPr lang="en-US" sz="1600" dirty="0">
                <a:sym typeface="Wingdings" panose="05000000000000000000" pitchFamily="2" charset="2"/>
              </a:rPr>
              <a:t> difference series having no clear trend - it just fluctuates around some fixed level.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5716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A434-7AA3-8B02-8B33-78419F6A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7B14C-1FC6-EC8A-E81B-E3E3C1DC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09" y="139218"/>
            <a:ext cx="10371781" cy="420926"/>
          </a:xfrm>
        </p:spPr>
        <p:txBody>
          <a:bodyPr/>
          <a:lstStyle/>
          <a:p>
            <a:pPr algn="ctr"/>
            <a:r>
              <a:rPr lang="en-US" sz="2300" dirty="0"/>
              <a:t>1</a:t>
            </a:r>
            <a:r>
              <a:rPr lang="en-US" sz="2300" baseline="30000" dirty="0"/>
              <a:t>st</a:t>
            </a:r>
            <a:r>
              <a:rPr lang="en-US" sz="2300" dirty="0"/>
              <a:t> Difference - </a:t>
            </a:r>
            <a:r>
              <a:rPr lang="en-US" sz="2400" dirty="0"/>
              <a:t>ADF Unit Root Test</a:t>
            </a:r>
            <a:br>
              <a:rPr lang="en-US" sz="2300" dirty="0"/>
            </a:br>
            <a:endParaRPr lang="en-US" sz="23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CD18AFA-8EBD-9CA0-79B0-7A2647AC3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59F28D-82AD-5D44-7139-BAAF604F4A25}"/>
                  </a:ext>
                </a:extLst>
              </p14:cNvPr>
              <p14:cNvContentPartPr/>
              <p14:nvPr/>
            </p14:nvContentPartPr>
            <p14:xfrm>
              <a:off x="5909017" y="4090076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59F28D-82AD-5D44-7139-BAAF604F4A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4697" y="4085756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9F77D5A-0E06-5613-0310-7CC0C836CC9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23587" y="2914781"/>
            <a:ext cx="5270090" cy="15980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4431FE-D1AD-FC26-8E7B-949ED4555EB6}"/>
              </a:ext>
            </a:extLst>
          </p:cNvPr>
          <p:cNvSpPr txBox="1"/>
          <p:nvPr/>
        </p:nvSpPr>
        <p:spPr>
          <a:xfrm>
            <a:off x="6823587" y="818202"/>
            <a:ext cx="557489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5% Confidence Interval Test - Rejected</a:t>
            </a:r>
            <a:endParaRPr lang="en-US" dirty="0"/>
          </a:p>
          <a:p>
            <a:r>
              <a:rPr lang="en-US" sz="1600" dirty="0"/>
              <a:t>tau2_ADF-stat vs tau2_crit(5%):</a:t>
            </a:r>
          </a:p>
          <a:p>
            <a:endParaRPr lang="en-US" sz="1600" dirty="0"/>
          </a:p>
          <a:p>
            <a:r>
              <a:rPr lang="en-US" sz="1600" dirty="0"/>
              <a:t>-5.1675 &lt; -2.93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/>
              <a:t>test stat is more negative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dirty="0">
                <a:sym typeface="Wingdings" panose="05000000000000000000" pitchFamily="2" charset="2"/>
              </a:rPr>
              <a:t>Reject Null Hypothesis of “there is a unit root”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dirty="0">
                <a:sym typeface="Wingdings" panose="05000000000000000000" pitchFamily="2" charset="2"/>
              </a:rPr>
              <a:t>1</a:t>
            </a:r>
            <a:r>
              <a:rPr lang="en-US" sz="1600" baseline="30000" dirty="0">
                <a:sym typeface="Wingdings" panose="05000000000000000000" pitchFamily="2" charset="2"/>
              </a:rPr>
              <a:t>st</a:t>
            </a:r>
            <a:r>
              <a:rPr lang="en-US" sz="1600" dirty="0">
                <a:sym typeface="Wingdings" panose="05000000000000000000" pitchFamily="2" charset="2"/>
              </a:rPr>
              <a:t> Difference Series is stationary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C07C62E-449A-4EF8-AF5B-3024DFC178E1}"/>
              </a:ext>
            </a:extLst>
          </p:cNvPr>
          <p:cNvSpPr/>
          <p:nvPr/>
        </p:nvSpPr>
        <p:spPr>
          <a:xfrm>
            <a:off x="10044683" y="2914781"/>
            <a:ext cx="967445" cy="389848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33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  <p:sp>
        <p:nvSpPr>
          <p:cNvPr id="21" name="正方形/長方形 24">
            <a:extLst>
              <a:ext uri="{FF2B5EF4-FFF2-40B4-BE49-F238E27FC236}">
                <a16:creationId xmlns:a16="http://schemas.microsoft.com/office/drawing/2014/main" id="{7DFDACD3-A6B7-E2E6-40F3-2962B8CE3B8A}"/>
              </a:ext>
            </a:extLst>
          </p:cNvPr>
          <p:cNvSpPr/>
          <p:nvPr/>
        </p:nvSpPr>
        <p:spPr>
          <a:xfrm>
            <a:off x="6876288" y="1651819"/>
            <a:ext cx="763377" cy="226142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33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  <p:sp>
        <p:nvSpPr>
          <p:cNvPr id="23" name="正方形/長方形 24">
            <a:extLst>
              <a:ext uri="{FF2B5EF4-FFF2-40B4-BE49-F238E27FC236}">
                <a16:creationId xmlns:a16="http://schemas.microsoft.com/office/drawing/2014/main" id="{E952474E-C89E-08A2-740E-280664EBEDA5}"/>
              </a:ext>
            </a:extLst>
          </p:cNvPr>
          <p:cNvSpPr/>
          <p:nvPr/>
        </p:nvSpPr>
        <p:spPr>
          <a:xfrm>
            <a:off x="7816644" y="1651819"/>
            <a:ext cx="538719" cy="226142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  <p:sp>
        <p:nvSpPr>
          <p:cNvPr id="27" name="正方形/長方形 24">
            <a:extLst>
              <a:ext uri="{FF2B5EF4-FFF2-40B4-BE49-F238E27FC236}">
                <a16:creationId xmlns:a16="http://schemas.microsoft.com/office/drawing/2014/main" id="{2DA84B14-1B6D-A533-DED4-B584C178AA4D}"/>
              </a:ext>
            </a:extLst>
          </p:cNvPr>
          <p:cNvSpPr/>
          <p:nvPr/>
        </p:nvSpPr>
        <p:spPr>
          <a:xfrm>
            <a:off x="8151495" y="3680460"/>
            <a:ext cx="624840" cy="487680"/>
          </a:xfrm>
          <a:prstGeom prst="rect">
            <a:avLst/>
          </a:prstGeom>
          <a:solidFill>
            <a:srgbClr val="33CCFF">
              <a:alpha val="5000"/>
            </a:srgbClr>
          </a:solidFill>
          <a:ln w="360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33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18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3713</TotalTime>
  <Words>1176</Words>
  <Application>Microsoft Office PowerPoint</Application>
  <PresentationFormat>Widescreen</PresentationFormat>
  <Paragraphs>196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Cambria Math</vt:lpstr>
      <vt:lpstr>Georgia</vt:lpstr>
      <vt:lpstr>Times New Roman</vt:lpstr>
      <vt:lpstr>Wingdings</vt:lpstr>
      <vt:lpstr>Office Theme</vt:lpstr>
      <vt:lpstr>Assignment 1 ETC3450: Applied Time Series Econometrics</vt:lpstr>
      <vt:lpstr>Series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Level - ACF</vt:lpstr>
      <vt:lpstr>Level - PACF</vt:lpstr>
      <vt:lpstr>PowerPoint Presentation</vt:lpstr>
      <vt:lpstr>1st Difference - ACF</vt:lpstr>
      <vt:lpstr>1st Difference - PACF</vt:lpstr>
      <vt:lpstr>PowerPoint Presentation</vt:lpstr>
      <vt:lpstr>PowerPoint Presentation</vt:lpstr>
      <vt:lpstr>Level – ADF Unit Root Test </vt:lpstr>
      <vt:lpstr>Level – ADF Unit Root Test</vt:lpstr>
      <vt:lpstr>PowerPoint Presentation</vt:lpstr>
      <vt:lpstr>Level – KPSS TEST </vt:lpstr>
      <vt:lpstr>Level – KPSS TEST </vt:lpstr>
      <vt:lpstr>PowerPoint Presentation</vt:lpstr>
      <vt:lpstr>PowerPoint Presentation</vt:lpstr>
      <vt:lpstr>1st ▲ – ADF Unit Root Test</vt:lpstr>
      <vt:lpstr>1st ▲ – ADF Unit Root Test</vt:lpstr>
      <vt:lpstr>PowerPoint Presentation</vt:lpstr>
      <vt:lpstr>1st ▲ – KPSS TEST </vt:lpstr>
      <vt:lpstr>1st ▲ – KPSS TEST </vt:lpstr>
      <vt:lpstr>PowerPoint Presentation</vt:lpstr>
      <vt:lpstr>Level - forecast (AR &amp; ARIMA)</vt:lpstr>
      <vt:lpstr>Level - forecast (AR &amp; ARIMA)</vt:lpstr>
      <vt:lpstr>1ST DIFFERENCE - forecast (AR &amp; ARIMA)</vt:lpstr>
      <vt:lpstr>1ST DIFFERENCE - forecast (AR &amp; ARIMA)</vt:lpstr>
      <vt:lpstr>PowerPoint Presentation</vt:lpstr>
      <vt:lpstr>PowerPoint Presentation</vt:lpstr>
      <vt:lpstr>Thank You</vt:lpstr>
      <vt:lpstr>1st Difference – KPSS TEST </vt:lpstr>
      <vt:lpstr>1st Difference - ADF Unit Root Test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Ali</dc:creator>
  <cp:lastModifiedBy>Adam Ali</cp:lastModifiedBy>
  <cp:revision>71</cp:revision>
  <dcterms:created xsi:type="dcterms:W3CDTF">2026-09-10T04:52:56Z</dcterms:created>
  <dcterms:modified xsi:type="dcterms:W3CDTF">2026-09-16T12:16:26Z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